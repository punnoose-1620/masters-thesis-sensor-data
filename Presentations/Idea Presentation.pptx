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3"/>
  </p:notesMasterIdLst>
  <p:sldIdLst>
    <p:sldId id="260" r:id="rId2"/>
    <p:sldId id="261" r:id="rId3"/>
    <p:sldId id="262" r:id="rId4"/>
    <p:sldId id="263" r:id="rId5"/>
    <p:sldId id="269" r:id="rId6"/>
    <p:sldId id="270" r:id="rId7"/>
    <p:sldId id="268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Slab" pitchFamily="2" charset="0"/>
      <p:regular r:id="rId18"/>
      <p:bold r:id="rId19"/>
    </p:embeddedFont>
    <p:embeddedFont>
      <p:font typeface="Verdana" panose="020B0604030504040204" pitchFamily="34" charset="0"/>
      <p:regular r:id="rId20"/>
      <p:bold r:id="rId21"/>
      <p:italic r:id="rId22"/>
      <p:boldItalic r:id="rId23"/>
    </p:embeddedFont>
  </p:embeddedFontLst>
  <p:custShowLst>
    <p:custShow name="Custom Show 1" id="0">
      <p:sldLst>
        <p:sld r:id="rId2"/>
        <p:sld r:id="rId3"/>
        <p:sld r:id="rId4"/>
        <p:sld r:id="rId5"/>
        <p:sld r:id="rId6"/>
        <p:sld r:id="rId5"/>
        <p:sld r:id="rId8"/>
        <p:sld r:id="rId5"/>
        <p:sld r:id="rId9"/>
        <p:sld r:id="rId10"/>
        <p:sld r:id="rId11"/>
        <p:sld r:id="rId12"/>
      </p:sldLst>
    </p:custShow>
  </p:custShow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8A825-4BBA-4A7F-B364-889573FB0941}" v="204" dt="2026-02-10T12:40:12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4" autoAdjust="0"/>
    <p:restoredTop sz="73672" autoAdjust="0"/>
  </p:normalViewPr>
  <p:slideViewPr>
    <p:cSldViewPr snapToGrid="0">
      <p:cViewPr>
        <p:scale>
          <a:sx n="75" d="100"/>
          <a:sy n="75" d="100"/>
        </p:scale>
        <p:origin x="1147" y="35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ZHUPPAKALAM THOMAS, PUNNOOSE" userId="fd29400d-4f57-4832-bd19-04ade6ee2f3f" providerId="ADAL" clId="{0F3E3CE6-6177-40FD-84CD-B015BFD4500B}"/>
    <pc:docChg chg="undo custSel addSld delSld modSld sldOrd modMainMaster">
      <pc:chgData name="KOZHUPPAKALAM THOMAS, PUNNOOSE" userId="fd29400d-4f57-4832-bd19-04ade6ee2f3f" providerId="ADAL" clId="{0F3E3CE6-6177-40FD-84CD-B015BFD4500B}" dt="2026-02-10T12:40:14.878" v="2571" actId="20577"/>
      <pc:docMkLst>
        <pc:docMk/>
      </pc:docMkLst>
      <pc:sldChg chg="addSp modSp mod modTransition modAnim modNotesTx">
        <pc:chgData name="KOZHUPPAKALAM THOMAS, PUNNOOSE" userId="fd29400d-4f57-4832-bd19-04ade6ee2f3f" providerId="ADAL" clId="{0F3E3CE6-6177-40FD-84CD-B015BFD4500B}" dt="2026-02-10T12:30:00.130" v="1941" actId="20577"/>
        <pc:sldMkLst>
          <pc:docMk/>
          <pc:sldMk cId="0" sldId="260"/>
        </pc:sldMkLst>
        <pc:spChg chg="add mod">
          <ac:chgData name="KOZHUPPAKALAM THOMAS, PUNNOOSE" userId="fd29400d-4f57-4832-bd19-04ade6ee2f3f" providerId="ADAL" clId="{0F3E3CE6-6177-40FD-84CD-B015BFD4500B}" dt="2026-02-10T09:21:03.007" v="293" actId="20577"/>
          <ac:spMkLst>
            <pc:docMk/>
            <pc:sldMk cId="0" sldId="260"/>
            <ac:spMk id="2" creationId="{CC8FEE20-A90D-193B-AAB7-2C11AB44EB00}"/>
          </ac:spMkLst>
        </pc:spChg>
        <pc:spChg chg="mod">
          <ac:chgData name="KOZHUPPAKALAM THOMAS, PUNNOOSE" userId="fd29400d-4f57-4832-bd19-04ade6ee2f3f" providerId="ADAL" clId="{0F3E3CE6-6177-40FD-84CD-B015BFD4500B}" dt="2026-02-10T09:21:12.959" v="309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KOZHUPPAKALAM THOMAS, PUNNOOSE" userId="fd29400d-4f57-4832-bd19-04ade6ee2f3f" providerId="ADAL" clId="{0F3E3CE6-6177-40FD-84CD-B015BFD4500B}" dt="2026-02-10T09:21:20.957" v="314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KOZHUPPAKALAM THOMAS, PUNNOOSE" userId="fd29400d-4f57-4832-bd19-04ade6ee2f3f" providerId="ADAL" clId="{0F3E3CE6-6177-40FD-84CD-B015BFD4500B}" dt="2026-02-10T09:20:06.511" v="198" actId="1076"/>
          <ac:spMkLst>
            <pc:docMk/>
            <pc:sldMk cId="0" sldId="260"/>
            <ac:spMk id="20" creationId="{00000000-0000-0000-0000-000000000000}"/>
          </ac:spMkLst>
        </pc:spChg>
        <pc:spChg chg="add mod">
          <ac:chgData name="KOZHUPPAKALAM THOMAS, PUNNOOSE" userId="fd29400d-4f57-4832-bd19-04ade6ee2f3f" providerId="ADAL" clId="{0F3E3CE6-6177-40FD-84CD-B015BFD4500B}" dt="2026-02-10T09:20:43.868" v="280" actId="1038"/>
          <ac:spMkLst>
            <pc:docMk/>
            <pc:sldMk cId="0" sldId="260"/>
            <ac:spMk id="32" creationId="{4CB1303F-2EB1-C1E9-9B4A-2AB229193908}"/>
          </ac:spMkLst>
        </pc:spChg>
      </pc:sldChg>
      <pc:sldChg chg="modTransition modAnim modNotesTx">
        <pc:chgData name="KOZHUPPAKALAM THOMAS, PUNNOOSE" userId="fd29400d-4f57-4832-bd19-04ade6ee2f3f" providerId="ADAL" clId="{0F3E3CE6-6177-40FD-84CD-B015BFD4500B}" dt="2026-02-10T12:32:46.599" v="2076" actId="20577"/>
        <pc:sldMkLst>
          <pc:docMk/>
          <pc:sldMk cId="0" sldId="261"/>
        </pc:sldMkLst>
      </pc:sldChg>
      <pc:sldChg chg="modSp mod modTransition modAnim modNotesTx">
        <pc:chgData name="KOZHUPPAKALAM THOMAS, PUNNOOSE" userId="fd29400d-4f57-4832-bd19-04ade6ee2f3f" providerId="ADAL" clId="{0F3E3CE6-6177-40FD-84CD-B015BFD4500B}" dt="2026-02-10T12:34:12.794" v="2288" actId="20577"/>
        <pc:sldMkLst>
          <pc:docMk/>
          <pc:sldMk cId="0" sldId="262"/>
        </pc:sldMkLst>
        <pc:spChg chg="mod">
          <ac:chgData name="KOZHUPPAKALAM THOMAS, PUNNOOSE" userId="fd29400d-4f57-4832-bd19-04ade6ee2f3f" providerId="ADAL" clId="{0F3E3CE6-6177-40FD-84CD-B015BFD4500B}" dt="2026-02-10T09:13:18.007" v="2" actId="948"/>
          <ac:spMkLst>
            <pc:docMk/>
            <pc:sldMk cId="0" sldId="262"/>
            <ac:spMk id="31" creationId="{00000000-0000-0000-0000-000000000000}"/>
          </ac:spMkLst>
        </pc:spChg>
      </pc:sldChg>
      <pc:sldChg chg="modSp mod ord modTransition modAnim modNotesTx">
        <pc:chgData name="KOZHUPPAKALAM THOMAS, PUNNOOSE" userId="fd29400d-4f57-4832-bd19-04ade6ee2f3f" providerId="ADAL" clId="{0F3E3CE6-6177-40FD-84CD-B015BFD4500B}" dt="2026-02-10T12:36:21.722" v="2557" actId="20577"/>
        <pc:sldMkLst>
          <pc:docMk/>
          <pc:sldMk cId="0" sldId="263"/>
        </pc:sldMkLst>
        <pc:spChg chg="mod">
          <ac:chgData name="KOZHUPPAKALAM THOMAS, PUNNOOSE" userId="fd29400d-4f57-4832-bd19-04ade6ee2f3f" providerId="ADAL" clId="{0F3E3CE6-6177-40FD-84CD-B015BFD4500B}" dt="2026-02-10T09:13:43.054" v="3" actId="948"/>
          <ac:spMkLst>
            <pc:docMk/>
            <pc:sldMk cId="0" sldId="263"/>
            <ac:spMk id="31" creationId="{00000000-0000-0000-0000-000000000000}"/>
          </ac:spMkLst>
        </pc:spChg>
      </pc:sldChg>
      <pc:sldChg chg="modSp mod modTransition modAnim modNotesTx">
        <pc:chgData name="KOZHUPPAKALAM THOMAS, PUNNOOSE" userId="fd29400d-4f57-4832-bd19-04ade6ee2f3f" providerId="ADAL" clId="{0F3E3CE6-6177-40FD-84CD-B015BFD4500B}" dt="2026-02-10T12:40:14.878" v="2571" actId="20577"/>
        <pc:sldMkLst>
          <pc:docMk/>
          <pc:sldMk cId="0" sldId="264"/>
        </pc:sldMkLst>
        <pc:spChg chg="mod">
          <ac:chgData name="KOZHUPPAKALAM THOMAS, PUNNOOSE" userId="fd29400d-4f57-4832-bd19-04ade6ee2f3f" providerId="ADAL" clId="{0F3E3CE6-6177-40FD-84CD-B015BFD4500B}" dt="2026-02-10T09:14:38.971" v="4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KOZHUPPAKALAM THOMAS, PUNNOOSE" userId="fd29400d-4f57-4832-bd19-04ade6ee2f3f" providerId="ADAL" clId="{0F3E3CE6-6177-40FD-84CD-B015BFD4500B}" dt="2026-02-10T09:14:41.844" v="5" actId="20577"/>
          <ac:spMkLst>
            <pc:docMk/>
            <pc:sldMk cId="0" sldId="264"/>
            <ac:spMk id="24" creationId="{00000000-0000-0000-0000-000000000000}"/>
          </ac:spMkLst>
        </pc:spChg>
        <pc:spChg chg="mod">
          <ac:chgData name="KOZHUPPAKALAM THOMAS, PUNNOOSE" userId="fd29400d-4f57-4832-bd19-04ade6ee2f3f" providerId="ADAL" clId="{0F3E3CE6-6177-40FD-84CD-B015BFD4500B}" dt="2026-02-10T09:14:44.275" v="6" actId="20577"/>
          <ac:spMkLst>
            <pc:docMk/>
            <pc:sldMk cId="0" sldId="264"/>
            <ac:spMk id="31" creationId="{00000000-0000-0000-0000-000000000000}"/>
          </ac:spMkLst>
        </pc:spChg>
      </pc:sldChg>
      <pc:sldChg chg="modSp mod modTransition modAnim">
        <pc:chgData name="KOZHUPPAKALAM THOMAS, PUNNOOSE" userId="fd29400d-4f57-4832-bd19-04ade6ee2f3f" providerId="ADAL" clId="{0F3E3CE6-6177-40FD-84CD-B015BFD4500B}" dt="2026-02-10T12:25:07.708" v="1710"/>
        <pc:sldMkLst>
          <pc:docMk/>
          <pc:sldMk cId="0" sldId="265"/>
        </pc:sldMkLst>
        <pc:spChg chg="mod">
          <ac:chgData name="KOZHUPPAKALAM THOMAS, PUNNOOSE" userId="fd29400d-4f57-4832-bd19-04ade6ee2f3f" providerId="ADAL" clId="{0F3E3CE6-6177-40FD-84CD-B015BFD4500B}" dt="2026-02-10T09:15:39.636" v="28" actId="1036"/>
          <ac:spMkLst>
            <pc:docMk/>
            <pc:sldMk cId="0" sldId="265"/>
            <ac:spMk id="2" creationId="{52DF6747-17D5-8069-7A28-BF3D0B7CD46F}"/>
          </ac:spMkLst>
        </pc:spChg>
      </pc:sldChg>
      <pc:sldChg chg="modTransition modAnim">
        <pc:chgData name="KOZHUPPAKALAM THOMAS, PUNNOOSE" userId="fd29400d-4f57-4832-bd19-04ade6ee2f3f" providerId="ADAL" clId="{0F3E3CE6-6177-40FD-84CD-B015BFD4500B}" dt="2026-02-10T12:25:07.708" v="1710"/>
        <pc:sldMkLst>
          <pc:docMk/>
          <pc:sldMk cId="0" sldId="266"/>
        </pc:sldMkLst>
      </pc:sldChg>
      <pc:sldChg chg="addSp delSp modSp new mod modTransition modClrScheme chgLayout">
        <pc:chgData name="KOZHUPPAKALAM THOMAS, PUNNOOSE" userId="fd29400d-4f57-4832-bd19-04ade6ee2f3f" providerId="ADAL" clId="{0F3E3CE6-6177-40FD-84CD-B015BFD4500B}" dt="2026-02-10T12:25:07.708" v="1710"/>
        <pc:sldMkLst>
          <pc:docMk/>
          <pc:sldMk cId="2084016969" sldId="267"/>
        </pc:sldMkLst>
        <pc:spChg chg="del">
          <ac:chgData name="KOZHUPPAKALAM THOMAS, PUNNOOSE" userId="fd29400d-4f57-4832-bd19-04ade6ee2f3f" providerId="ADAL" clId="{0F3E3CE6-6177-40FD-84CD-B015BFD4500B}" dt="2026-02-10T09:17:07.226" v="30" actId="700"/>
          <ac:spMkLst>
            <pc:docMk/>
            <pc:sldMk cId="2084016969" sldId="267"/>
            <ac:spMk id="2" creationId="{EE34922A-E046-81DF-3EEC-6D176D9383DF}"/>
          </ac:spMkLst>
        </pc:spChg>
        <pc:spChg chg="del mod ord">
          <ac:chgData name="KOZHUPPAKALAM THOMAS, PUNNOOSE" userId="fd29400d-4f57-4832-bd19-04ade6ee2f3f" providerId="ADAL" clId="{0F3E3CE6-6177-40FD-84CD-B015BFD4500B}" dt="2026-02-10T09:17:07.226" v="30" actId="700"/>
          <ac:spMkLst>
            <pc:docMk/>
            <pc:sldMk cId="2084016969" sldId="267"/>
            <ac:spMk id="3" creationId="{248C2026-0C62-EB71-5E9C-BD6C93B8DAE2}"/>
          </ac:spMkLst>
        </pc:spChg>
        <pc:spChg chg="del">
          <ac:chgData name="KOZHUPPAKALAM THOMAS, PUNNOOSE" userId="fd29400d-4f57-4832-bd19-04ade6ee2f3f" providerId="ADAL" clId="{0F3E3CE6-6177-40FD-84CD-B015BFD4500B}" dt="2026-02-10T09:17:07.226" v="30" actId="700"/>
          <ac:spMkLst>
            <pc:docMk/>
            <pc:sldMk cId="2084016969" sldId="267"/>
            <ac:spMk id="4" creationId="{1FB5B10A-FA1B-D556-A035-22AA0513186B}"/>
          </ac:spMkLst>
        </pc:spChg>
        <pc:spChg chg="add mod ord">
          <ac:chgData name="KOZHUPPAKALAM THOMAS, PUNNOOSE" userId="fd29400d-4f57-4832-bd19-04ade6ee2f3f" providerId="ADAL" clId="{0F3E3CE6-6177-40FD-84CD-B015BFD4500B}" dt="2026-02-10T09:17:41.150" v="68" actId="20577"/>
          <ac:spMkLst>
            <pc:docMk/>
            <pc:sldMk cId="2084016969" sldId="267"/>
            <ac:spMk id="5" creationId="{1D9AE195-A542-7D2E-B77F-3B1B461C2FDB}"/>
          </ac:spMkLst>
        </pc:spChg>
      </pc:sldChg>
      <pc:sldChg chg="addSp delSp modSp new mod ord modTransition modClrScheme modAnim chgLayout modNotesTx">
        <pc:chgData name="KOZHUPPAKALAM THOMAS, PUNNOOSE" userId="fd29400d-4f57-4832-bd19-04ade6ee2f3f" providerId="ADAL" clId="{0F3E3CE6-6177-40FD-84CD-B015BFD4500B}" dt="2026-02-10T12:38:54.279" v="2565" actId="20577"/>
        <pc:sldMkLst>
          <pc:docMk/>
          <pc:sldMk cId="458566743" sldId="268"/>
        </pc:sldMkLst>
        <pc:spChg chg="del mod ord">
          <ac:chgData name="KOZHUPPAKALAM THOMAS, PUNNOOSE" userId="fd29400d-4f57-4832-bd19-04ade6ee2f3f" providerId="ADAL" clId="{0F3E3CE6-6177-40FD-84CD-B015BFD4500B}" dt="2026-02-10T11:10:47.120" v="316" actId="700"/>
          <ac:spMkLst>
            <pc:docMk/>
            <pc:sldMk cId="458566743" sldId="268"/>
            <ac:spMk id="2" creationId="{107B56B8-E8F2-CCDD-4782-1A00CF813A6E}"/>
          </ac:spMkLst>
        </pc:spChg>
        <pc:spChg chg="add del mod ord">
          <ac:chgData name="KOZHUPPAKALAM THOMAS, PUNNOOSE" userId="fd29400d-4f57-4832-bd19-04ade6ee2f3f" providerId="ADAL" clId="{0F3E3CE6-6177-40FD-84CD-B015BFD4500B}" dt="2026-02-10T11:11:23.658" v="326" actId="700"/>
          <ac:spMkLst>
            <pc:docMk/>
            <pc:sldMk cId="458566743" sldId="268"/>
            <ac:spMk id="3" creationId="{6732556C-3708-C823-D5AD-26D1C3B93037}"/>
          </ac:spMkLst>
        </pc:spChg>
        <pc:spChg chg="add mod ord">
          <ac:chgData name="KOZHUPPAKALAM THOMAS, PUNNOOSE" userId="fd29400d-4f57-4832-bd19-04ade6ee2f3f" providerId="ADAL" clId="{0F3E3CE6-6177-40FD-84CD-B015BFD4500B}" dt="2026-02-10T11:36:52.733" v="1368" actId="26606"/>
          <ac:spMkLst>
            <pc:docMk/>
            <pc:sldMk cId="458566743" sldId="268"/>
            <ac:spMk id="6" creationId="{BFD65BE3-D4F9-E6CD-89D2-1CB21D53C9D1}"/>
          </ac:spMkLst>
        </pc:spChg>
        <pc:spChg chg="add mod ord">
          <ac:chgData name="KOZHUPPAKALAM THOMAS, PUNNOOSE" userId="fd29400d-4f57-4832-bd19-04ade6ee2f3f" providerId="ADAL" clId="{0F3E3CE6-6177-40FD-84CD-B015BFD4500B}" dt="2026-02-10T12:38:45.603" v="2563" actId="166"/>
          <ac:spMkLst>
            <pc:docMk/>
            <pc:sldMk cId="458566743" sldId="268"/>
            <ac:spMk id="7" creationId="{6320E059-D63B-7A5A-B04A-87469745CAB8}"/>
          </ac:spMkLst>
        </pc:spChg>
        <pc:spChg chg="add mod">
          <ac:chgData name="KOZHUPPAKALAM THOMAS, PUNNOOSE" userId="fd29400d-4f57-4832-bd19-04ade6ee2f3f" providerId="ADAL" clId="{0F3E3CE6-6177-40FD-84CD-B015BFD4500B}" dt="2026-02-10T12:11:59.288" v="1648"/>
          <ac:spMkLst>
            <pc:docMk/>
            <pc:sldMk cId="458566743" sldId="268"/>
            <ac:spMk id="10" creationId="{7D7C6AA3-3789-84A8-75F6-0A53E44A5D58}"/>
          </ac:spMkLst>
        </pc:spChg>
        <pc:spChg chg="add mod">
          <ac:chgData name="KOZHUPPAKALAM THOMAS, PUNNOOSE" userId="fd29400d-4f57-4832-bd19-04ade6ee2f3f" providerId="ADAL" clId="{0F3E3CE6-6177-40FD-84CD-B015BFD4500B}" dt="2026-02-10T12:11:59.288" v="1648"/>
          <ac:spMkLst>
            <pc:docMk/>
            <pc:sldMk cId="458566743" sldId="268"/>
            <ac:spMk id="11" creationId="{1F0597F8-5319-1122-3986-0BF01D5F05C6}"/>
          </ac:spMkLst>
        </pc:spChg>
        <pc:spChg chg="add mod">
          <ac:chgData name="KOZHUPPAKALAM THOMAS, PUNNOOSE" userId="fd29400d-4f57-4832-bd19-04ade6ee2f3f" providerId="ADAL" clId="{0F3E3CE6-6177-40FD-84CD-B015BFD4500B}" dt="2026-02-10T12:11:59.288" v="1648"/>
          <ac:spMkLst>
            <pc:docMk/>
            <pc:sldMk cId="458566743" sldId="268"/>
            <ac:spMk id="13" creationId="{CC6CAD03-EB3D-090E-3B96-44051EEC4308}"/>
          </ac:spMkLst>
        </pc:spChg>
        <pc:spChg chg="add mod">
          <ac:chgData name="KOZHUPPAKALAM THOMAS, PUNNOOSE" userId="fd29400d-4f57-4832-bd19-04ade6ee2f3f" providerId="ADAL" clId="{0F3E3CE6-6177-40FD-84CD-B015BFD4500B}" dt="2026-02-10T12:11:59.288" v="1648"/>
          <ac:spMkLst>
            <pc:docMk/>
            <pc:sldMk cId="458566743" sldId="268"/>
            <ac:spMk id="15" creationId="{1ACD4931-768A-2776-2A69-AD18BC9AFC0B}"/>
          </ac:spMkLst>
        </pc:spChg>
        <pc:spChg chg="add mod">
          <ac:chgData name="KOZHUPPAKALAM THOMAS, PUNNOOSE" userId="fd29400d-4f57-4832-bd19-04ade6ee2f3f" providerId="ADAL" clId="{0F3E3CE6-6177-40FD-84CD-B015BFD4500B}" dt="2026-02-10T12:11:59.288" v="1648"/>
          <ac:spMkLst>
            <pc:docMk/>
            <pc:sldMk cId="458566743" sldId="268"/>
            <ac:spMk id="17" creationId="{2EF889BE-9B5D-1C30-E9EF-6DD2E2365672}"/>
          </ac:spMkLst>
        </pc:spChg>
        <pc:picChg chg="add mod">
          <ac:chgData name="KOZHUPPAKALAM THOMAS, PUNNOOSE" userId="fd29400d-4f57-4832-bd19-04ade6ee2f3f" providerId="ADAL" clId="{0F3E3CE6-6177-40FD-84CD-B015BFD4500B}" dt="2026-02-10T11:11:18.332" v="325" actId="931"/>
          <ac:picMkLst>
            <pc:docMk/>
            <pc:sldMk cId="458566743" sldId="268"/>
            <ac:picMk id="5" creationId="{920EDB1F-D284-DC9E-2ACB-E289899277CD}"/>
          </ac:picMkLst>
        </pc:picChg>
        <pc:picChg chg="add mod ord modCrop">
          <ac:chgData name="KOZHUPPAKALAM THOMAS, PUNNOOSE" userId="fd29400d-4f57-4832-bd19-04ade6ee2f3f" providerId="ADAL" clId="{0F3E3CE6-6177-40FD-84CD-B015BFD4500B}" dt="2026-02-10T12:15:02.677" v="1665" actId="1037"/>
          <ac:picMkLst>
            <pc:docMk/>
            <pc:sldMk cId="458566743" sldId="268"/>
            <ac:picMk id="9" creationId="{DCC19303-93EB-A34E-3EB4-BD1B4493C478}"/>
          </ac:picMkLst>
        </pc:picChg>
        <pc:picChg chg="add mod">
          <ac:chgData name="KOZHUPPAKALAM THOMAS, PUNNOOSE" userId="fd29400d-4f57-4832-bd19-04ade6ee2f3f" providerId="ADAL" clId="{0F3E3CE6-6177-40FD-84CD-B015BFD4500B}" dt="2026-02-10T12:11:59.288" v="1648"/>
          <ac:picMkLst>
            <pc:docMk/>
            <pc:sldMk cId="458566743" sldId="268"/>
            <ac:picMk id="12" creationId="{F5DA2506-49B0-0EA2-50B4-27207DF84926}"/>
          </ac:picMkLst>
        </pc:picChg>
        <pc:picChg chg="add mod">
          <ac:chgData name="KOZHUPPAKALAM THOMAS, PUNNOOSE" userId="fd29400d-4f57-4832-bd19-04ade6ee2f3f" providerId="ADAL" clId="{0F3E3CE6-6177-40FD-84CD-B015BFD4500B}" dt="2026-02-10T12:11:59.288" v="1648"/>
          <ac:picMkLst>
            <pc:docMk/>
            <pc:sldMk cId="458566743" sldId="268"/>
            <ac:picMk id="14" creationId="{FF5EF842-463D-117E-64CF-1072CFBAF06F}"/>
          </ac:picMkLst>
        </pc:picChg>
        <pc:picChg chg="add mod">
          <ac:chgData name="KOZHUPPAKALAM THOMAS, PUNNOOSE" userId="fd29400d-4f57-4832-bd19-04ade6ee2f3f" providerId="ADAL" clId="{0F3E3CE6-6177-40FD-84CD-B015BFD4500B}" dt="2026-02-10T12:11:59.288" v="1648"/>
          <ac:picMkLst>
            <pc:docMk/>
            <pc:sldMk cId="458566743" sldId="268"/>
            <ac:picMk id="16" creationId="{6E31E8A6-A97B-614A-B256-8ABAF521E824}"/>
          </ac:picMkLst>
        </pc:picChg>
        <pc:picChg chg="add mod">
          <ac:chgData name="KOZHUPPAKALAM THOMAS, PUNNOOSE" userId="fd29400d-4f57-4832-bd19-04ade6ee2f3f" providerId="ADAL" clId="{0F3E3CE6-6177-40FD-84CD-B015BFD4500B}" dt="2026-02-10T12:11:59.288" v="1648"/>
          <ac:picMkLst>
            <pc:docMk/>
            <pc:sldMk cId="458566743" sldId="268"/>
            <ac:picMk id="18" creationId="{31426781-EB6B-D3AC-70C0-2FD75FF36A59}"/>
          </ac:picMkLst>
        </pc:picChg>
      </pc:sldChg>
      <pc:sldChg chg="addSp modSp add mod ord modTransition modClrScheme modAnim chgLayout modNotesTx">
        <pc:chgData name="KOZHUPPAKALAM THOMAS, PUNNOOSE" userId="fd29400d-4f57-4832-bd19-04ade6ee2f3f" providerId="ADAL" clId="{0F3E3CE6-6177-40FD-84CD-B015BFD4500B}" dt="2026-02-10T12:37:20.339" v="2561" actId="5793"/>
        <pc:sldMkLst>
          <pc:docMk/>
          <pc:sldMk cId="2911008228" sldId="269"/>
        </pc:sldMkLst>
        <pc:spChg chg="add mod">
          <ac:chgData name="KOZHUPPAKALAM THOMAS, PUNNOOSE" userId="fd29400d-4f57-4832-bd19-04ade6ee2f3f" providerId="ADAL" clId="{0F3E3CE6-6177-40FD-84CD-B015BFD4500B}" dt="2026-02-10T12:05:51.011" v="1601" actId="27636"/>
          <ac:spMkLst>
            <pc:docMk/>
            <pc:sldMk cId="2911008228" sldId="269"/>
            <ac:spMk id="2" creationId="{D49E4C16-F01B-01CA-36C5-945897FF4A9F}"/>
          </ac:spMkLst>
        </pc:spChg>
        <pc:spChg chg="add mod">
          <ac:chgData name="KOZHUPPAKALAM THOMAS, PUNNOOSE" userId="fd29400d-4f57-4832-bd19-04ade6ee2f3f" providerId="ADAL" clId="{0F3E3CE6-6177-40FD-84CD-B015BFD4500B}" dt="2026-02-10T12:05:50.932" v="1600"/>
          <ac:spMkLst>
            <pc:docMk/>
            <pc:sldMk cId="2911008228" sldId="269"/>
            <ac:spMk id="3" creationId="{5B6465B3-2E1F-1A6D-56A7-B56879600D68}"/>
          </ac:spMkLst>
        </pc:spChg>
        <pc:spChg chg="add mod">
          <ac:chgData name="KOZHUPPAKALAM THOMAS, PUNNOOSE" userId="fd29400d-4f57-4832-bd19-04ade6ee2f3f" providerId="ADAL" clId="{0F3E3CE6-6177-40FD-84CD-B015BFD4500B}" dt="2026-02-10T12:05:50.932" v="1600"/>
          <ac:spMkLst>
            <pc:docMk/>
            <pc:sldMk cId="2911008228" sldId="269"/>
            <ac:spMk id="5" creationId="{BF572D74-3AD7-9A8B-8942-31A147D20C46}"/>
          </ac:spMkLst>
        </pc:spChg>
        <pc:spChg chg="mod">
          <ac:chgData name="KOZHUPPAKALAM THOMAS, PUNNOOSE" userId="fd29400d-4f57-4832-bd19-04ade6ee2f3f" providerId="ADAL" clId="{0F3E3CE6-6177-40FD-84CD-B015BFD4500B}" dt="2026-02-10T11:52:07.021" v="1542" actId="1076"/>
          <ac:spMkLst>
            <pc:docMk/>
            <pc:sldMk cId="2911008228" sldId="269"/>
            <ac:spMk id="6" creationId="{661CCB19-29BA-1F4A-ED2B-AB761D31D19C}"/>
          </ac:spMkLst>
        </pc:spChg>
        <pc:spChg chg="mod ord">
          <ac:chgData name="KOZHUPPAKALAM THOMAS, PUNNOOSE" userId="fd29400d-4f57-4832-bd19-04ade6ee2f3f" providerId="ADAL" clId="{0F3E3CE6-6177-40FD-84CD-B015BFD4500B}" dt="2026-02-10T12:36:55.403" v="2560" actId="166"/>
          <ac:spMkLst>
            <pc:docMk/>
            <pc:sldMk cId="2911008228" sldId="269"/>
            <ac:spMk id="7" creationId="{21051B02-772E-2E5B-FBDC-87EFEE7C335F}"/>
          </ac:spMkLst>
        </pc:spChg>
        <pc:spChg chg="add mod">
          <ac:chgData name="KOZHUPPAKALAM THOMAS, PUNNOOSE" userId="fd29400d-4f57-4832-bd19-04ade6ee2f3f" providerId="ADAL" clId="{0F3E3CE6-6177-40FD-84CD-B015BFD4500B}" dt="2026-02-10T12:05:50.932" v="1600"/>
          <ac:spMkLst>
            <pc:docMk/>
            <pc:sldMk cId="2911008228" sldId="269"/>
            <ac:spMk id="10" creationId="{ECD93043-503B-5C67-5D03-929801E24D99}"/>
          </ac:spMkLst>
        </pc:spChg>
        <pc:spChg chg="add mod">
          <ac:chgData name="KOZHUPPAKALAM THOMAS, PUNNOOSE" userId="fd29400d-4f57-4832-bd19-04ade6ee2f3f" providerId="ADAL" clId="{0F3E3CE6-6177-40FD-84CD-B015BFD4500B}" dt="2026-02-10T12:05:50.932" v="1600"/>
          <ac:spMkLst>
            <pc:docMk/>
            <pc:sldMk cId="2911008228" sldId="269"/>
            <ac:spMk id="12" creationId="{A14C7687-4556-2046-96C7-BED42DCAB1BC}"/>
          </ac:spMkLst>
        </pc:spChg>
        <pc:picChg chg="add mod">
          <ac:chgData name="KOZHUPPAKALAM THOMAS, PUNNOOSE" userId="fd29400d-4f57-4832-bd19-04ade6ee2f3f" providerId="ADAL" clId="{0F3E3CE6-6177-40FD-84CD-B015BFD4500B}" dt="2026-02-10T12:05:50.932" v="1600"/>
          <ac:picMkLst>
            <pc:docMk/>
            <pc:sldMk cId="2911008228" sldId="269"/>
            <ac:picMk id="4" creationId="{DD86C9D1-D781-4490-CAD1-D40026CF5569}"/>
          </ac:picMkLst>
        </pc:picChg>
        <pc:picChg chg="add mod">
          <ac:chgData name="KOZHUPPAKALAM THOMAS, PUNNOOSE" userId="fd29400d-4f57-4832-bd19-04ade6ee2f3f" providerId="ADAL" clId="{0F3E3CE6-6177-40FD-84CD-B015BFD4500B}" dt="2026-02-10T12:05:50.932" v="1600"/>
          <ac:picMkLst>
            <pc:docMk/>
            <pc:sldMk cId="2911008228" sldId="269"/>
            <ac:picMk id="8" creationId="{A44421EC-5717-B9A1-4F87-AA6F2CB38164}"/>
          </ac:picMkLst>
        </pc:picChg>
        <pc:picChg chg="mod modCrop">
          <ac:chgData name="KOZHUPPAKALAM THOMAS, PUNNOOSE" userId="fd29400d-4f57-4832-bd19-04ade6ee2f3f" providerId="ADAL" clId="{0F3E3CE6-6177-40FD-84CD-B015BFD4500B}" dt="2026-02-10T12:09:30.953" v="1638" actId="1037"/>
          <ac:picMkLst>
            <pc:docMk/>
            <pc:sldMk cId="2911008228" sldId="269"/>
            <ac:picMk id="9" creationId="{AAE113E5-4F05-515F-B53C-EEEC91CB0E65}"/>
          </ac:picMkLst>
        </pc:picChg>
        <pc:picChg chg="add mod">
          <ac:chgData name="KOZHUPPAKALAM THOMAS, PUNNOOSE" userId="fd29400d-4f57-4832-bd19-04ade6ee2f3f" providerId="ADAL" clId="{0F3E3CE6-6177-40FD-84CD-B015BFD4500B}" dt="2026-02-10T12:05:50.932" v="1600"/>
          <ac:picMkLst>
            <pc:docMk/>
            <pc:sldMk cId="2911008228" sldId="269"/>
            <ac:picMk id="11" creationId="{B019FD36-64BF-9C15-108B-08574503D778}"/>
          </ac:picMkLst>
        </pc:picChg>
        <pc:picChg chg="add mod">
          <ac:chgData name="KOZHUPPAKALAM THOMAS, PUNNOOSE" userId="fd29400d-4f57-4832-bd19-04ade6ee2f3f" providerId="ADAL" clId="{0F3E3CE6-6177-40FD-84CD-B015BFD4500B}" dt="2026-02-10T12:10:14.074" v="1639"/>
          <ac:picMkLst>
            <pc:docMk/>
            <pc:sldMk cId="2911008228" sldId="269"/>
            <ac:picMk id="13" creationId="{BFBF729D-09CC-BAD7-08FC-2797F139054E}"/>
          </ac:picMkLst>
        </pc:picChg>
      </pc:sldChg>
      <pc:sldChg chg="modSp add mod ord modTransition modAnim modNotesTx">
        <pc:chgData name="KOZHUPPAKALAM THOMAS, PUNNOOSE" userId="fd29400d-4f57-4832-bd19-04ade6ee2f3f" providerId="ADAL" clId="{0F3E3CE6-6177-40FD-84CD-B015BFD4500B}" dt="2026-02-10T12:37:38.073" v="2562" actId="20577"/>
        <pc:sldMkLst>
          <pc:docMk/>
          <pc:sldMk cId="236519297" sldId="270"/>
        </pc:sldMkLst>
        <pc:picChg chg="mod">
          <ac:chgData name="KOZHUPPAKALAM THOMAS, PUNNOOSE" userId="fd29400d-4f57-4832-bd19-04ade6ee2f3f" providerId="ADAL" clId="{0F3E3CE6-6177-40FD-84CD-B015BFD4500B}" dt="2026-02-10T11:59:55.615" v="1576" actId="14100"/>
          <ac:picMkLst>
            <pc:docMk/>
            <pc:sldMk cId="236519297" sldId="270"/>
            <ac:picMk id="34" creationId="{48BC92D3-6D0F-871E-9434-B5FBFAC17CC3}"/>
          </ac:picMkLst>
        </pc:picChg>
      </pc:sldChg>
      <pc:sldChg chg="add del ord">
        <pc:chgData name="KOZHUPPAKALAM THOMAS, PUNNOOSE" userId="fd29400d-4f57-4832-bd19-04ade6ee2f3f" providerId="ADAL" clId="{0F3E3CE6-6177-40FD-84CD-B015BFD4500B}" dt="2026-02-10T11:53:12.092" v="1547" actId="47"/>
        <pc:sldMkLst>
          <pc:docMk/>
          <pc:sldMk cId="2981856794" sldId="271"/>
        </pc:sldMkLst>
      </pc:sldChg>
      <pc:sldMasterChg chg="modTransition modSldLayout">
        <pc:chgData name="KOZHUPPAKALAM THOMAS, PUNNOOSE" userId="fd29400d-4f57-4832-bd19-04ade6ee2f3f" providerId="ADAL" clId="{0F3E3CE6-6177-40FD-84CD-B015BFD4500B}" dt="2026-02-10T12:25:07.708" v="1710"/>
        <pc:sldMasterMkLst>
          <pc:docMk/>
          <pc:sldMasterMk cId="0" sldId="2147483661"/>
        </pc:sldMasterMkLst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48"/>
          </pc:sldLayoutMkLst>
        </pc:sldLayoutChg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49"/>
          </pc:sldLayoutMkLst>
        </pc:sldLayoutChg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50"/>
          </pc:sldLayoutMkLst>
        </pc:sldLayoutChg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51"/>
          </pc:sldLayoutMkLst>
        </pc:sldLayoutChg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52"/>
          </pc:sldLayoutMkLst>
        </pc:sldLayoutChg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53"/>
          </pc:sldLayoutMkLst>
        </pc:sldLayoutChg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54"/>
          </pc:sldLayoutMkLst>
        </pc:sldLayoutChg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55"/>
          </pc:sldLayoutMkLst>
        </pc:sldLayoutChg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56"/>
          </pc:sldLayoutMkLst>
        </pc:sldLayoutChg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57"/>
          </pc:sldLayoutMkLst>
        </pc:sldLayoutChg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58"/>
          </pc:sldLayoutMkLst>
        </pc:sldLayoutChg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59"/>
          </pc:sldLayoutMkLst>
        </pc:sldLayoutChg>
        <pc:sldLayoutChg chg="modTransition">
          <pc:chgData name="KOZHUPPAKALAM THOMAS, PUNNOOSE" userId="fd29400d-4f57-4832-bd19-04ade6ee2f3f" providerId="ADAL" clId="{0F3E3CE6-6177-40FD-84CD-B015BFD4500B}" dt="2026-02-10T12:25:07.708" v="1710"/>
          <pc:sldLayoutMkLst>
            <pc:docMk/>
            <pc:sldMasterMk cId="0" sldId="2147483661"/>
            <pc:sldLayoutMk cId="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Introduce the motivation: recurring WICE-related questions slow teams down. Emphasize internal-only usage and focus on speed, consistency, and documentation-backed answers.</a:t>
            </a:r>
            <a:endParaRPr lang="en-US" dirty="0"/>
          </a:p>
          <a:p>
            <a:r>
              <a:rPr lang="en-US" dirty="0"/>
              <a:t>Problem : WICE requires manual human-to-human contact</a:t>
            </a:r>
          </a:p>
          <a:p>
            <a:r>
              <a:rPr lang="en-US" dirty="0"/>
              <a:t>Proposal : AI Agent that answers queries based on documentation and data</a:t>
            </a:r>
          </a:p>
          <a:p>
            <a:r>
              <a:rPr lang="en-US" dirty="0"/>
              <a:t>Target Users : All internal Stakeholders</a:t>
            </a:r>
          </a:p>
          <a:p>
            <a:r>
              <a:rPr lang="en-US" dirty="0"/>
              <a:t>Assumptions : Proper documentation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 Human dependence and human error</a:t>
            </a:r>
          </a:p>
          <a:p>
            <a:r>
              <a:rPr lang="en-US" dirty="0"/>
              <a:t>Faster responses </a:t>
            </a:r>
          </a:p>
          <a:p>
            <a:r>
              <a:rPr lang="en-US" dirty="0"/>
              <a:t>Responses grounded to traceable documentation/data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Limited to WICE related documented data</a:t>
            </a:r>
          </a:p>
          <a:p>
            <a:r>
              <a:rPr lang="en-US" dirty="0"/>
              <a:t>This is just proof of concept but ready for expansion towards product release</a:t>
            </a:r>
          </a:p>
          <a:p>
            <a:r>
              <a:rPr lang="en-US" dirty="0"/>
              <a:t>Available only in Sweden, and only for Volvo Accounts through Microsoft Teams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System : Best for academic submission as a Thesis paper</a:t>
            </a:r>
          </a:p>
          <a:p>
            <a:r>
              <a:rPr lang="en-US" dirty="0"/>
              <a:t>Copilot System : Best for current internal environment with minimal changes</a:t>
            </a:r>
          </a:p>
          <a:p>
            <a:r>
              <a:rPr lang="en-US" dirty="0"/>
              <a:t>Comparison stands as a baseline on which is better in the production pipeline. Helps weigh options.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/>
            </a:pPr>
            <a:r>
              <a:rPr lang="en-US" b="0" i="0" u="none" strike="noStrike" cap="none" dirty="0"/>
              <a:t>Primary Agent : Where the data might be, what agent to call to get the data, does any of the received data from one agent require further clarification/cross-references from other agents/documentation</a:t>
            </a:r>
          </a:p>
          <a:p>
            <a:pPr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/>
            </a:pPr>
            <a:r>
              <a:rPr lang="en-US" b="0" i="0" u="none" strike="noStrike" cap="none" dirty="0"/>
              <a:t>SharePoint Agent : What document to fetch, how to interpret the document</a:t>
            </a:r>
          </a:p>
          <a:p>
            <a:pPr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/>
            </a:pPr>
            <a:r>
              <a:rPr lang="en-US" b="0" i="0" u="none" strike="noStrike" cap="none" dirty="0"/>
              <a:t>Database Agent : How much of the data to show, what query to use to get this data</a:t>
            </a:r>
          </a:p>
          <a:p>
            <a:pPr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/>
            </a:pPr>
            <a:r>
              <a:rPr lang="en-US" b="0" i="0" u="none" strike="noStrike" cap="none" dirty="0"/>
              <a:t>WICE Wiki Agent : What sub-URL(s) from the WICE Wiki page would best answer the query, invokes the required endpoint functions</a:t>
            </a:r>
          </a:p>
          <a:p>
            <a:pPr marL="158750" indent="0">
              <a:buNone/>
            </a:pP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464742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590ED-051D-06FF-B604-D150C346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A50B9-016C-2078-A8BF-C06F311644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1822D-A81E-D944-E273-AF1B62F67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System : Best for academic submission as a Thesis paper</a:t>
            </a:r>
          </a:p>
          <a:p>
            <a:r>
              <a:rPr lang="en-US" dirty="0"/>
              <a:t>Copilot System : Best for current internal environment with minimal changes</a:t>
            </a:r>
          </a:p>
          <a:p>
            <a:r>
              <a:rPr lang="en-US" dirty="0"/>
              <a:t>Comparison stands as a baseline on which is better in the production pipeline. Helps weigh options.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4570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LLM Agent 1 is used to identify what function to run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LLM Agent 2 interprets the obtained result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Everything else is hard coded with deterministic logic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Every data obtained is traceable and can be backed with proof</a:t>
            </a:r>
          </a:p>
        </p:txBody>
      </p:sp>
    </p:spTree>
    <p:extLst>
      <p:ext uri="{BB962C8B-B14F-4D97-AF65-F5344CB8AC3E}">
        <p14:creationId xmlns:p14="http://schemas.microsoft.com/office/powerpoint/2010/main" val="2279296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dirty="0">
                <a:solidFill>
                  <a:srgbClr val="FFFFFF"/>
                </a:solidFill>
                <a:latin typeface="Verdana"/>
              </a:rPr>
              <a:t>Primary WICE agent orchestrates queries across specialized agents</a:t>
            </a:r>
          </a:p>
          <a:p>
            <a:r>
              <a:rPr lang="en-US" sz="1100" b="0" i="0" dirty="0">
                <a:solidFill>
                  <a:srgbClr val="FFFFFF"/>
                </a:solidFill>
                <a:latin typeface="Verdana"/>
              </a:rPr>
              <a:t>Dedicated agents for Wiki, SharePoint documentation, and databases.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>
                <a:solidFill>
                  <a:srgbClr val="FFFFFF"/>
                </a:solidFill>
                <a:latin typeface="Verdana"/>
              </a:rPr>
              <a:t>End users interact directly through Microsoft Teams.</a:t>
            </a:r>
            <a:endParaRPr lang="en-US" sz="1100" b="0" i="0" dirty="0">
              <a:solidFill>
                <a:srgbClr val="FFFFFF"/>
              </a:solidFill>
              <a:latin typeface="Verdana"/>
            </a:endParaRPr>
          </a:p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Reassure stakeholders that this system does not bypass governance and only surfaces what users are allowed to see.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where the project stands today and what support is needed to move forward.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 userDrawn="1"/>
        </p:nvSpPr>
        <p:spPr>
          <a:xfrm>
            <a:off x="156918" y="15221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rgbClr val="FDCB3B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10800000">
            <a:off x="7931645" y="339597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rgbClr val="FDCB3B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97366" y="1188925"/>
            <a:ext cx="8556702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Verdana"/>
              <a:buNone/>
              <a:defRPr sz="4000"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Font typeface="Verdana"/>
              <a:buNone/>
              <a:defRPr sz="4000">
                <a:latin typeface="Verdana"/>
                <a:ea typeface="Verdana"/>
                <a:cs typeface="Verdana"/>
                <a:sym typeface="Verdan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Font typeface="Verdana"/>
              <a:buNone/>
              <a:defRPr sz="4000">
                <a:latin typeface="Verdana"/>
                <a:ea typeface="Verdana"/>
                <a:cs typeface="Verdana"/>
                <a:sym typeface="Verdan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Font typeface="Verdana"/>
              <a:buNone/>
              <a:defRPr sz="4000">
                <a:latin typeface="Verdana"/>
                <a:ea typeface="Verdana"/>
                <a:cs typeface="Verdana"/>
                <a:sym typeface="Verdan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Font typeface="Verdana"/>
              <a:buNone/>
              <a:defRPr sz="4000">
                <a:latin typeface="Verdana"/>
                <a:ea typeface="Verdana"/>
                <a:cs typeface="Verdana"/>
                <a:sym typeface="Verdan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Font typeface="Verdana"/>
              <a:buNone/>
              <a:defRPr sz="4000">
                <a:latin typeface="Verdana"/>
                <a:ea typeface="Verdana"/>
                <a:cs typeface="Verdana"/>
                <a:sym typeface="Verdan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Font typeface="Verdana"/>
              <a:buNone/>
              <a:defRPr sz="4000">
                <a:latin typeface="Verdana"/>
                <a:ea typeface="Verdana"/>
                <a:cs typeface="Verdana"/>
                <a:sym typeface="Verdan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Font typeface="Verdana"/>
              <a:buNone/>
              <a:defRPr sz="4000">
                <a:latin typeface="Verdana"/>
                <a:ea typeface="Verdana"/>
                <a:cs typeface="Verdana"/>
                <a:sym typeface="Verdan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Font typeface="Verdana"/>
              <a:buNone/>
              <a:defRPr sz="40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97365" y="3376551"/>
            <a:ext cx="8556701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Verdana"/>
              <a:buNone/>
              <a:defRPr sz="24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Verdana"/>
              <a:buNone/>
              <a:defRPr sz="24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Verdana"/>
              <a:buNone/>
              <a:defRPr sz="24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Verdana"/>
              <a:buNone/>
              <a:defRPr sz="24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Verdana"/>
              <a:buNone/>
              <a:defRPr sz="24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Verdana"/>
              <a:buNone/>
              <a:defRPr sz="24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Verdana"/>
              <a:buNone/>
              <a:defRPr sz="24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Verdana"/>
              <a:buNone/>
              <a:defRPr sz="24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lvl="1"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rgbClr val="FDCB3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Verdana"/>
              <a:buNone/>
              <a:defRPr sz="4800"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955484"/>
            <a:ext cx="424800" cy="0"/>
          </a:xfrm>
          <a:prstGeom prst="straightConnector1">
            <a:avLst/>
          </a:prstGeom>
          <a:noFill/>
          <a:ln w="38100" cap="flat" cmpd="sng">
            <a:solidFill>
              <a:srgbClr val="FDCB3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1532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 sz="14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 sz="14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lvl="1"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3"/>
          </p:nvPr>
        </p:nvSpPr>
        <p:spPr>
          <a:xfrm>
            <a:off x="4756200" y="3775825"/>
            <a:ext cx="3999900" cy="3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r" rtl="0"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○"/>
              <a:defRPr sz="800"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■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●"/>
              <a:defRPr sz="800"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○"/>
              <a:defRPr sz="800"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■"/>
              <a:defRPr sz="800"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●"/>
              <a:defRPr sz="800"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○"/>
              <a:defRPr sz="800"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■"/>
              <a:defRPr sz="8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" name="Google Shape;32;p5">
            <a:extLst>
              <a:ext uri="{FF2B5EF4-FFF2-40B4-BE49-F238E27FC236}">
                <a16:creationId xmlns:a16="http://schemas.microsoft.com/office/drawing/2014/main" id="{AABE2EBA-005E-0CE7-7FCD-7CFFF7D7E901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386975" y="1016400"/>
            <a:ext cx="83682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Verdana"/>
              <a:buNone/>
              <a:defRPr sz="1800">
                <a:latin typeface="Verdana"/>
                <a:ea typeface="Verdana"/>
                <a:cs typeface="Verdana"/>
                <a:sym typeface="Verdan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92563" y="955484"/>
            <a:ext cx="424800" cy="0"/>
          </a:xfrm>
          <a:prstGeom prst="straightConnector1">
            <a:avLst/>
          </a:prstGeom>
          <a:noFill/>
          <a:ln w="38100" cap="flat" cmpd="sng">
            <a:solidFill>
              <a:srgbClr val="FDCB3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87900" y="1532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 sz="14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rtl="0"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rtl="0"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rtl="0"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rtl="0"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rtl="0"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rtl="0"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rtl="0"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386975" y="1016400"/>
            <a:ext cx="83682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Verdana"/>
              <a:buNone/>
              <a:defRPr sz="1800">
                <a:latin typeface="Verdana"/>
                <a:ea typeface="Verdana"/>
                <a:cs typeface="Verdana"/>
                <a:sym typeface="Verdan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rgbClr val="FDCB3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lvl="1"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Verdana"/>
              <a:buNone/>
              <a:defRPr sz="48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6" name="Google Shape;46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rgbClr val="FDCB3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86975" y="1016400"/>
            <a:ext cx="83682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Verdana"/>
              <a:buNone/>
              <a:defRPr sz="1800"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lvl="1"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9" name="Google Shape;49;p9"/>
          <p:cNvCxnSpPr/>
          <p:nvPr/>
        </p:nvCxnSpPr>
        <p:spPr>
          <a:xfrm>
            <a:off x="492563" y="955484"/>
            <a:ext cx="424800" cy="0"/>
          </a:xfrm>
          <a:prstGeom prst="straightConnector1">
            <a:avLst/>
          </a:prstGeom>
          <a:noFill/>
          <a:ln w="38100" cap="flat" cmpd="sng">
            <a:solidFill>
              <a:srgbClr val="FDCB3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387900" y="1532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 b="1"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387900" y="1790875"/>
            <a:ext cx="3999900" cy="26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 sz="14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3"/>
          </p:nvPr>
        </p:nvSpPr>
        <p:spPr>
          <a:xfrm>
            <a:off x="4756200" y="17946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 sz="14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4"/>
          </p:nvPr>
        </p:nvSpPr>
        <p:spPr>
          <a:xfrm>
            <a:off x="4756200" y="4080625"/>
            <a:ext cx="3999900" cy="3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r" rtl="0"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○"/>
              <a:defRPr sz="800"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■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●"/>
              <a:defRPr sz="800"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○"/>
              <a:defRPr sz="800"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■"/>
              <a:defRPr sz="800"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●"/>
              <a:defRPr sz="800"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○"/>
              <a:defRPr sz="800"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279400" algn="r" rtl="0"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■"/>
              <a:defRPr sz="8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lvl="1"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Font typeface="Verdana"/>
              <a:buNone/>
              <a:defRPr sz="8000"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Font typeface="Verdana"/>
              <a:buNone/>
              <a:defRPr sz="130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Font typeface="Verdana"/>
              <a:buNone/>
              <a:defRPr sz="130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Font typeface="Verdana"/>
              <a:buNone/>
              <a:defRPr sz="130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Font typeface="Verdana"/>
              <a:buNone/>
              <a:defRPr sz="130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Font typeface="Verdana"/>
              <a:buNone/>
              <a:defRPr sz="130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Font typeface="Verdana"/>
              <a:buNone/>
              <a:defRPr sz="130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Font typeface="Verdana"/>
              <a:buNone/>
              <a:defRPr sz="130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Font typeface="Verdana"/>
              <a:buNone/>
              <a:defRPr sz="130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lvl="1"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lvl="1"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TITLE_AND_BODY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body" idx="1"/>
          </p:nvPr>
        </p:nvSpPr>
        <p:spPr>
          <a:xfrm>
            <a:off x="311700" y="1229445"/>
            <a:ext cx="8520600" cy="377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Verdana"/>
              <a:buChar char="●"/>
              <a:defRPr sz="16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lang="en-US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890426" y="4802521"/>
            <a:ext cx="245991" cy="2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i="0" u="none" strike="noStrike" cap="none"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hasCustomPrompt="1"/>
          </p:nvPr>
        </p:nvSpPr>
        <p:spPr>
          <a:xfrm>
            <a:off x="311700" y="0"/>
            <a:ext cx="8520600" cy="71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Verdana"/>
              <a:buNone/>
              <a:defRPr sz="2200">
                <a:latin typeface="Verdana"/>
                <a:ea typeface="Verdana"/>
                <a:cs typeface="Verdana"/>
                <a:sym typeface="Verdan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" name="Google Shape;32;p5">
            <a:extLst>
              <a:ext uri="{FF2B5EF4-FFF2-40B4-BE49-F238E27FC236}">
                <a16:creationId xmlns:a16="http://schemas.microsoft.com/office/drawing/2014/main" id="{3B38838B-5EBD-6C7F-60D2-88FA9FFA951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11700" y="730401"/>
            <a:ext cx="8520600" cy="49904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Verdana"/>
              <a:buNone/>
              <a:tabLst/>
              <a:defRPr sz="1600">
                <a:latin typeface="Verdana"/>
                <a:ea typeface="Verdana"/>
                <a:cs typeface="Verdana"/>
                <a:sym typeface="Verdan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Verdana"/>
              <a:buNone/>
              <a:defRPr sz="2200">
                <a:latin typeface="Verdana"/>
                <a:ea typeface="Verdana"/>
                <a:cs typeface="Verdana"/>
                <a:sym typeface="Verdan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 sz="14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2"/>
          </p:nvPr>
        </p:nvSpPr>
        <p:spPr>
          <a:xfrm>
            <a:off x="4832400" y="13048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 sz="14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3"/>
          </p:nvPr>
        </p:nvSpPr>
        <p:spPr>
          <a:xfrm>
            <a:off x="386975" y="864000"/>
            <a:ext cx="8368200" cy="8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Verdana"/>
              <a:buNone/>
              <a:defRPr sz="1500">
                <a:latin typeface="Verdana"/>
                <a:ea typeface="Verdana"/>
                <a:cs typeface="Verdana"/>
                <a:sym typeface="Verdan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Verdana"/>
              <a:buNone/>
              <a:defRPr sz="2100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4"/>
          </p:nvPr>
        </p:nvSpPr>
        <p:spPr>
          <a:xfrm>
            <a:off x="4813725" y="3822525"/>
            <a:ext cx="3999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305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Verdana"/>
              <a:buChar char="●"/>
              <a:defRPr sz="700"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6035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Font typeface="Verdana"/>
              <a:buChar char="○"/>
              <a:defRPr sz="500"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26035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Font typeface="Verdana"/>
              <a:buChar char="■"/>
              <a:defRPr sz="500"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26035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Font typeface="Verdana"/>
              <a:buChar char="●"/>
              <a:defRPr sz="500"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26035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Font typeface="Verdana"/>
              <a:buChar char="○"/>
              <a:defRPr sz="500"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26035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Font typeface="Verdana"/>
              <a:buChar char="■"/>
              <a:defRPr sz="500">
                <a:latin typeface="Verdana"/>
                <a:ea typeface="Verdana"/>
                <a:cs typeface="Verdana"/>
                <a:sym typeface="Verdana"/>
              </a:defRPr>
            </a:lvl6pPr>
            <a:lvl7pPr marL="3200400" lvl="6" indent="-26035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Font typeface="Verdana"/>
              <a:buChar char="●"/>
              <a:defRPr sz="500">
                <a:latin typeface="Verdana"/>
                <a:ea typeface="Verdana"/>
                <a:cs typeface="Verdana"/>
                <a:sym typeface="Verdana"/>
              </a:defRPr>
            </a:lvl7pPr>
            <a:lvl8pPr marL="3657600" lvl="7" indent="-26035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Font typeface="Verdana"/>
              <a:buChar char="○"/>
              <a:defRPr sz="500">
                <a:latin typeface="Verdana"/>
                <a:ea typeface="Verdana"/>
                <a:cs typeface="Verdana"/>
                <a:sym typeface="Verdana"/>
              </a:defRPr>
            </a:lvl8pPr>
            <a:lvl9pPr marL="4114800" lvl="8" indent="-26035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Font typeface="Verdana"/>
              <a:buChar char="■"/>
              <a:defRPr sz="5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Masters Thesis: </a:t>
            </a:r>
            <a:r>
              <a:rPr dirty="0"/>
              <a:t>Stakeholder Chatbot for WICE Data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>
            <a:normAutofit/>
          </a:bodyPr>
          <a:lstStyle/>
          <a:p>
            <a:r>
              <a:rPr dirty="0"/>
              <a:t>Internal AI </a:t>
            </a:r>
            <a:r>
              <a:rPr lang="en-US" dirty="0"/>
              <a:t>Agent</a:t>
            </a:r>
            <a:r>
              <a:rPr dirty="0"/>
              <a:t> for Faster Data Clarification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 i="0">
                <a:solidFill>
                  <a:srgbClr val="FFFFFF"/>
                </a:solidFill>
                <a:latin typeface="Proxima Nova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16" name="Picture 15" descr="tmp0fv2_sm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67" y="150867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" y="1927770"/>
            <a:ext cx="2751683" cy="1261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Problem Today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Clarifying WICE data requires emails, meetings, and manual follow-ups, often taking hours or days.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23" name="Picture 22" descr="tmpuoe_bmp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1508670"/>
            <a:ext cx="3048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70783" y="1927770"/>
            <a:ext cx="2751683" cy="1261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Proposed Solution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An AI-powered chatbot that answers WICE data questions instantly using documented sources.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30" name="Picture 29" descr="tmppr0anqc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333" y="150867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12966" y="1927770"/>
            <a:ext cx="2751683" cy="1046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Target Users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R&amp;D engineers, managers, product owners, executives, and internal staff.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8FEE20-A90D-193B-AAB7-2C11AB44EB00}"/>
              </a:ext>
            </a:extLst>
          </p:cNvPr>
          <p:cNvSpPr txBox="1"/>
          <p:nvPr/>
        </p:nvSpPr>
        <p:spPr>
          <a:xfrm>
            <a:off x="5585254" y="4324081"/>
            <a:ext cx="3457838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300" b="1" i="0" dirty="0">
                <a:solidFill>
                  <a:srgbClr val="FFFFFF"/>
                </a:solidFill>
                <a:latin typeface="Verdana"/>
              </a:rPr>
              <a:t>Thesis Team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B1303F-2EB1-C1E9-9B4A-2AB229193908}"/>
              </a:ext>
            </a:extLst>
          </p:cNvPr>
          <p:cNvSpPr txBox="1"/>
          <p:nvPr/>
        </p:nvSpPr>
        <p:spPr>
          <a:xfrm>
            <a:off x="5589370" y="4608288"/>
            <a:ext cx="3457838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FFFFF"/>
                </a:solidFill>
                <a:latin typeface="Verdana"/>
              </a:rPr>
              <a:t>Deepa Krishnan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FFFF"/>
                </a:solidFill>
                <a:latin typeface="Verdana"/>
              </a:rPr>
              <a:t>Punnoose</a:t>
            </a:r>
            <a:r>
              <a:rPr lang="en-US" dirty="0">
                <a:solidFill>
                  <a:srgbClr val="FFFFFF"/>
                </a:solidFill>
                <a:latin typeface="Verdana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Verdana"/>
              </a:rPr>
              <a:t>Kozhuppakalam</a:t>
            </a:r>
            <a:r>
              <a:rPr lang="en-US" dirty="0">
                <a:solidFill>
                  <a:srgbClr val="FFFFFF"/>
                </a:solidFill>
                <a:latin typeface="Verdana"/>
              </a:rPr>
              <a:t> Thomas</a:t>
            </a:r>
            <a:endParaRPr sz="1400" b="0" i="0" dirty="0">
              <a:solidFill>
                <a:srgbClr val="FFFFFF"/>
              </a:solidFill>
              <a:latin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Why This Matters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>
            <a:normAutofit/>
          </a:bodyPr>
          <a:lstStyle/>
          <a:p>
            <a:r>
              <a:t>From Human Dependency to Self-Service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 i="0">
                <a:solidFill>
                  <a:srgbClr val="FFFFFF"/>
                </a:solidFill>
                <a:latin typeface="Proxima Nova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16" name="Picture 15" descr="tmpgue6u6d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67" y="150867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" y="1927770"/>
            <a:ext cx="2751683" cy="1046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Efficiency Gain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Reduces dependency on WICE team members for routine clarifications.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23" name="Picture 22" descr="tmpjyc8rok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1508670"/>
            <a:ext cx="3048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70783" y="1927770"/>
            <a:ext cx="2751683" cy="1046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Faster Decisions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Stakeholders get answers in seconds while staying in their workflow.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30" name="Picture 29" descr="tmpux728nw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333" y="150867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12966" y="1927770"/>
            <a:ext cx="2751683" cy="1046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Knowledge Consistency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Answers are grounded in documentation and data, not human memory.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Scope &amp; Intent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>
            <a:normAutofit/>
          </a:bodyPr>
          <a:lstStyle/>
          <a:p>
            <a:r>
              <a:t>Focused, Internal, and Extendable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 i="0">
                <a:solidFill>
                  <a:srgbClr val="FFFFFF"/>
                </a:solidFill>
                <a:latin typeface="Proxima Nova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16" name="Picture 15" descr="tmprvt6o0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67" y="150867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" y="1927770"/>
            <a:ext cx="2751683" cy="1046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Scope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Limited to WICE-related data, documentation, and governance queries.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23" name="Picture 22" descr="tmpk8_whx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1508670"/>
            <a:ext cx="3048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70783" y="1927770"/>
            <a:ext cx="2751683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Product Type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Proof of concept with a clear path to production readiness.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30" name="Picture 29" descr="tmpj6tlsrp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333" y="150867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12966" y="1927770"/>
            <a:ext cx="2751683" cy="10618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Access Model</a:t>
            </a:r>
          </a:p>
          <a:p>
            <a:pPr algn="ctr"/>
            <a:endParaRPr lang="en-US" sz="1400" b="0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Available internally via Microsoft Teams within the Sweden intranet.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Comparative Workflow Strategies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>
            <a:normAutofit/>
          </a:bodyPr>
          <a:lstStyle/>
          <a:p>
            <a:r>
              <a:rPr dirty="0"/>
              <a:t>Copilot No‑Code vs Traditional Agentic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 i="0">
                <a:solidFill>
                  <a:srgbClr val="FFFFFF"/>
                </a:solidFill>
                <a:latin typeface="Proxima Nova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16" name="Picture 15" descr="tmpuoe_bm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67" y="150867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" y="1927770"/>
            <a:ext cx="2751683" cy="400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Proposed Copilot No‑Code Workflow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23" name="Picture 22" descr="tmprnahgr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1508670"/>
            <a:ext cx="3048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70783" y="1927770"/>
            <a:ext cx="2751683" cy="6001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Proposed Traditional Agentic Workflow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30" name="Picture 29" descr="tmpx6u5fkn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333" y="150867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12966" y="1927770"/>
            <a:ext cx="2751683" cy="28674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300" b="1" i="0" dirty="0">
                <a:solidFill>
                  <a:srgbClr val="FFFFFF"/>
                </a:solidFill>
                <a:latin typeface="Verdana"/>
              </a:rPr>
              <a:t>Anticipated Strategic Trade‑offs</a:t>
            </a:r>
          </a:p>
          <a:p>
            <a:pPr algn="ctr">
              <a:spcAft>
                <a:spcPts val="1200"/>
              </a:spcAft>
            </a:pPr>
            <a:r>
              <a:rPr sz="1200" b="0" i="0" dirty="0">
                <a:solidFill>
                  <a:srgbClr val="FFFFFF"/>
                </a:solidFill>
                <a:latin typeface="Verdana"/>
              </a:rPr>
              <a:t>Posits that the No‑Code path could deliver accelerated prototyping, streamlined maintenance, and centralized governance</a:t>
            </a:r>
            <a:r>
              <a:rPr lang="en-US" sz="1200" b="0" i="0" dirty="0">
                <a:solidFill>
                  <a:srgbClr val="FFFFFF"/>
                </a:solidFill>
                <a:latin typeface="Verdana"/>
              </a:rPr>
              <a:t>.</a:t>
            </a:r>
          </a:p>
          <a:p>
            <a:pPr algn="ctr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  <a:latin typeface="Verdana"/>
              </a:rPr>
              <a:t>T</a:t>
            </a:r>
            <a:r>
              <a:rPr sz="1200" b="0" i="0" dirty="0">
                <a:solidFill>
                  <a:srgbClr val="FFFFFF"/>
                </a:solidFill>
                <a:latin typeface="Verdana"/>
              </a:rPr>
              <a:t>he Agentic path may provide maximal extensibility for niche edge‑cases. </a:t>
            </a:r>
            <a:endParaRPr lang="en-US" sz="1200" b="0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200" b="0" i="0" dirty="0">
                <a:solidFill>
                  <a:srgbClr val="FFFFFF"/>
                </a:solidFill>
                <a:latin typeface="Verdana"/>
              </a:rPr>
              <a:t>Decision criteria would hinge on project timelines, required custom logic, and projected long‑term operational budgets.</a:t>
            </a:r>
          </a:p>
        </p:txBody>
      </p:sp>
      <p:pic>
        <p:nvPicPr>
          <p:cNvPr id="32" name="Picture 31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CA149F66-76F1-BADE-AE8C-1F37C78582A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131" b="15908"/>
          <a:stretch>
            <a:fillRect/>
          </a:stretch>
        </p:blipFill>
        <p:spPr>
          <a:xfrm>
            <a:off x="3170634" y="2319917"/>
            <a:ext cx="2751683" cy="2704582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34" name="Picture 33" descr="A diagram of a company&#10;&#10;AI-generated content may be incorrect.">
            <a:extLst>
              <a:ext uri="{FF2B5EF4-FFF2-40B4-BE49-F238E27FC236}">
                <a16:creationId xmlns:a16="http://schemas.microsoft.com/office/drawing/2014/main" id="{7773FF19-8B1E-EA6D-8048-08935B613EB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79" t="2313" r="1900" b="2313"/>
          <a:stretch>
            <a:fillRect/>
          </a:stretch>
        </p:blipFill>
        <p:spPr>
          <a:xfrm>
            <a:off x="384048" y="2327879"/>
            <a:ext cx="2438400" cy="2652229"/>
          </a:xfrm>
          <a:prstGeom prst="rect">
            <a:avLst/>
          </a:prstGeom>
          <a:effectLst>
            <a:softEdge rad="254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7E108-EF6A-5348-669A-86F601B90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1CCB19-29BA-1F4A-ED2B-AB761D31D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66" y="409003"/>
            <a:ext cx="8368200" cy="6861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Copilot No-Code Chatbot Workflow</a:t>
            </a:r>
            <a:endParaRPr lang="en-SE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E113E5-4F05-515F-B53C-EEEC91CB0E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3" t="2502" r="3107" b="2600"/>
          <a:stretch>
            <a:fillRect/>
          </a:stretch>
        </p:blipFill>
        <p:spPr>
          <a:xfrm>
            <a:off x="384809" y="2315210"/>
            <a:ext cx="2388871" cy="2628900"/>
          </a:xfrm>
          <a:prstGeom prst="rect">
            <a:avLst/>
          </a:prstGeom>
          <a:noFill/>
          <a:ln>
            <a:noFill/>
          </a:ln>
          <a:effectLst>
            <a:softEdge rad="25400"/>
          </a:effectLst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D49E4C16-F01B-01CA-36C5-945897FF4A9F}"/>
              </a:ext>
            </a:extLst>
          </p:cNvPr>
          <p:cNvSpPr txBox="1">
            <a:spLocks/>
          </p:cNvSpPr>
          <p:nvPr/>
        </p:nvSpPr>
        <p:spPr>
          <a:xfrm>
            <a:off x="311700" y="0"/>
            <a:ext cx="8520600" cy="71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Verdana"/>
              <a:buNone/>
              <a:defRPr sz="4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nl-BE" dirty="0"/>
              <a:t>Comparative Workflow Strategies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5B6465B3-2E1F-1A6D-56A7-B56879600D68}"/>
              </a:ext>
            </a:extLst>
          </p:cNvPr>
          <p:cNvSpPr txBox="1">
            <a:spLocks/>
          </p:cNvSpPr>
          <p:nvPr/>
        </p:nvSpPr>
        <p:spPr>
          <a:xfrm>
            <a:off x="311700" y="730401"/>
            <a:ext cx="8520600" cy="49904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Copilot No‑Code vs Traditional Agentic Approaches</a:t>
            </a:r>
            <a:endParaRPr lang="en-US" dirty="0"/>
          </a:p>
        </p:txBody>
      </p:sp>
      <p:pic>
        <p:nvPicPr>
          <p:cNvPr id="4" name="Picture 3" descr="tmpuoe_bmpb.png">
            <a:extLst>
              <a:ext uri="{FF2B5EF4-FFF2-40B4-BE49-F238E27FC236}">
                <a16:creationId xmlns:a16="http://schemas.microsoft.com/office/drawing/2014/main" id="{DD86C9D1-D781-4490-CAD1-D40026CF5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967" y="1508670"/>
            <a:ext cx="304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572D74-3AD7-9A8B-8942-31A147D20C46}"/>
              </a:ext>
            </a:extLst>
          </p:cNvPr>
          <p:cNvSpPr txBox="1"/>
          <p:nvPr/>
        </p:nvSpPr>
        <p:spPr>
          <a:xfrm>
            <a:off x="228600" y="1927770"/>
            <a:ext cx="2751683" cy="400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Proposed Copilot No‑Code Workflow</a:t>
            </a:r>
          </a:p>
        </p:txBody>
      </p:sp>
      <p:pic>
        <p:nvPicPr>
          <p:cNvPr id="8" name="Picture 7" descr="tmprnahgr87.png">
            <a:extLst>
              <a:ext uri="{FF2B5EF4-FFF2-40B4-BE49-F238E27FC236}">
                <a16:creationId xmlns:a16="http://schemas.microsoft.com/office/drawing/2014/main" id="{A44421EC-5717-B9A1-4F87-AA6F2CB38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150" y="1508670"/>
            <a:ext cx="304800" cy="304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D93043-503B-5C67-5D03-929801E24D99}"/>
              </a:ext>
            </a:extLst>
          </p:cNvPr>
          <p:cNvSpPr txBox="1"/>
          <p:nvPr/>
        </p:nvSpPr>
        <p:spPr>
          <a:xfrm>
            <a:off x="3170783" y="1927770"/>
            <a:ext cx="2751683" cy="6001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Proposed Traditional Agentic Workflow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11" name="Picture 10" descr="tmpx6u5fkn9.png">
            <a:extLst>
              <a:ext uri="{FF2B5EF4-FFF2-40B4-BE49-F238E27FC236}">
                <a16:creationId xmlns:a16="http://schemas.microsoft.com/office/drawing/2014/main" id="{B019FD36-64BF-9C15-108B-08574503D7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6333" y="1508670"/>
            <a:ext cx="304800" cy="304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4C7687-4556-2046-96C7-BED42DCAB1BC}"/>
              </a:ext>
            </a:extLst>
          </p:cNvPr>
          <p:cNvSpPr txBox="1"/>
          <p:nvPr/>
        </p:nvSpPr>
        <p:spPr>
          <a:xfrm>
            <a:off x="6112966" y="1927770"/>
            <a:ext cx="2751683" cy="28674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300" b="1" i="0" dirty="0">
                <a:solidFill>
                  <a:srgbClr val="FFFFFF"/>
                </a:solidFill>
                <a:latin typeface="Verdana"/>
              </a:rPr>
              <a:t>Anticipated Strategic Trade‑offs</a:t>
            </a:r>
          </a:p>
          <a:p>
            <a:pPr algn="ctr">
              <a:spcAft>
                <a:spcPts val="1200"/>
              </a:spcAft>
            </a:pPr>
            <a:r>
              <a:rPr sz="1200" b="0" i="0" dirty="0">
                <a:solidFill>
                  <a:srgbClr val="FFFFFF"/>
                </a:solidFill>
                <a:latin typeface="Verdana"/>
              </a:rPr>
              <a:t>Posits that the No‑Code path could deliver accelerated prototyping, streamlined maintenance, and centralized governance</a:t>
            </a:r>
            <a:r>
              <a:rPr lang="en-US" sz="1200" b="0" i="0" dirty="0">
                <a:solidFill>
                  <a:srgbClr val="FFFFFF"/>
                </a:solidFill>
                <a:latin typeface="Verdana"/>
              </a:rPr>
              <a:t>.</a:t>
            </a:r>
          </a:p>
          <a:p>
            <a:pPr algn="ctr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  <a:latin typeface="Verdana"/>
              </a:rPr>
              <a:t>T</a:t>
            </a:r>
            <a:r>
              <a:rPr sz="1200" b="0" i="0" dirty="0">
                <a:solidFill>
                  <a:srgbClr val="FFFFFF"/>
                </a:solidFill>
                <a:latin typeface="Verdana"/>
              </a:rPr>
              <a:t>he Agentic path may provide maximal extensibility for niche edge‑cases. </a:t>
            </a:r>
            <a:endParaRPr lang="en-US" sz="1200" b="0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200" b="0" i="0" dirty="0">
                <a:solidFill>
                  <a:srgbClr val="FFFFFF"/>
                </a:solidFill>
                <a:latin typeface="Verdana"/>
              </a:rPr>
              <a:t>Decision criteria would hinge on project timelines, required custom logic, and projected long‑term operational budgets.</a:t>
            </a:r>
          </a:p>
        </p:txBody>
      </p:sp>
      <p:pic>
        <p:nvPicPr>
          <p:cNvPr id="13" name="Picture 1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BFBF729D-09CC-BAD7-08FC-2797F139054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131" b="15908"/>
          <a:stretch>
            <a:fillRect/>
          </a:stretch>
        </p:blipFill>
        <p:spPr>
          <a:xfrm>
            <a:off x="3170634" y="2319917"/>
            <a:ext cx="2751683" cy="2704582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1051B02-772E-2E5B-FBDC-87EFEE7C335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665837" y="1334625"/>
            <a:ext cx="5090261" cy="3591602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/>
            </a:pPr>
            <a:r>
              <a:rPr lang="en-US" b="0" i="0" u="none" strike="noStrike" cap="none" dirty="0"/>
              <a:t>Primary Agent : Where the data might be, what agent to call to get the data, does any of the received data from one agent require further clarification/cross-references from other agents/documentation</a:t>
            </a:r>
          </a:p>
          <a:p>
            <a:pPr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/>
            </a:pPr>
            <a:r>
              <a:rPr lang="en-US" b="0" i="0" u="none" strike="noStrike" cap="none" dirty="0"/>
              <a:t>SharePoint Agent : What document to fetch, how to interpret the document</a:t>
            </a:r>
          </a:p>
          <a:p>
            <a:pPr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/>
            </a:pPr>
            <a:r>
              <a:rPr lang="en-US" b="0" i="0" u="none" strike="noStrike" cap="none" dirty="0"/>
              <a:t>Database Agent : How much of the data to show, what query to use to get this data</a:t>
            </a:r>
          </a:p>
          <a:p>
            <a:pPr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/>
            </a:pPr>
            <a:r>
              <a:rPr lang="en-US" b="0" i="0" u="none" strike="noStrike" cap="none" dirty="0"/>
              <a:t>WICE Wiki Agent : What sub-URL(s) from the WICE Wiki page would best answer the query, invokes the required endpoint functions</a:t>
            </a:r>
          </a:p>
        </p:txBody>
      </p:sp>
    </p:spTree>
    <p:extLst>
      <p:ext uri="{BB962C8B-B14F-4D97-AF65-F5344CB8AC3E}">
        <p14:creationId xmlns:p14="http://schemas.microsoft.com/office/powerpoint/2010/main" val="2911008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33" dur="1500" fill="hold"/>
                                        <p:tgtEl>
                                          <p:spTgt spid="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5.55556E-7 4.44444E-6 L 0.03958 -0.13025 " pathEditMode="relative" rAng="0" ptsTypes="AA">
                                      <p:cBhvr>
                                        <p:cTn id="35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9" y="-6512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  <p:bldP spid="5" grpId="0"/>
      <p:bldP spid="10" grpId="0"/>
      <p:bldP spid="12" grpId="0"/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2EDEC-98DD-582E-D969-A6F57979A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5503E1-4AFF-378E-28E1-8942BAFDF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Comparative Workflow Strategies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D651C86-9EC2-7444-1A01-B5937E6E0B1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>
            <a:normAutofit/>
          </a:bodyPr>
          <a:lstStyle/>
          <a:p>
            <a:r>
              <a:t>Copilot No‑Code vs Traditional Agentic Approaches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FE80E-5C03-B705-A0C4-294B82133D91}"/>
              </a:ext>
            </a:extLst>
          </p:cNvPr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42303B-7010-0DAF-5194-3150F803A9CE}"/>
              </a:ext>
            </a:extLst>
          </p:cNvPr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 i="0">
                <a:solidFill>
                  <a:srgbClr val="FFFFFF"/>
                </a:solidFill>
                <a:latin typeface="Proxima Nova"/>
              </a:defRPr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F615D0-BDBC-BDFF-17CC-D44AD8205798}"/>
              </a:ext>
            </a:extLst>
          </p:cNvPr>
          <p:cNvSpPr/>
          <p:nvPr/>
        </p:nvSpPr>
        <p:spPr>
          <a:xfrm>
            <a:off x="228600" y="1508670"/>
            <a:ext cx="8686800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8FA837-865B-17FB-8CD0-D60B24F94A00}"/>
              </a:ext>
            </a:extLst>
          </p:cNvPr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26BBB9-CAD0-1960-D434-B126703093FE}"/>
              </a:ext>
            </a:extLst>
          </p:cNvPr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EBF28-732F-0BF8-6127-96D39627A1D3}"/>
              </a:ext>
            </a:extLst>
          </p:cNvPr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531E10-964A-9DAE-C244-DA7C4627B839}"/>
              </a:ext>
            </a:extLst>
          </p:cNvPr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9E028B-354B-613D-BE3F-7A6FB7327DC9}"/>
              </a:ext>
            </a:extLst>
          </p:cNvPr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086B3C-78A4-D84B-DF6F-F1934F2394AB}"/>
              </a:ext>
            </a:extLst>
          </p:cNvPr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625BF6-07E6-DC6D-DBD0-D6A99A381EF6}"/>
              </a:ext>
            </a:extLst>
          </p:cNvPr>
          <p:cNvSpPr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09AFE-7969-B582-2CBD-EC4DD2201CF2}"/>
              </a:ext>
            </a:extLst>
          </p:cNvPr>
          <p:cNvSpPr txBox="1"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16" name="Picture 15" descr="tmpuoe_bmpb.png">
            <a:extLst>
              <a:ext uri="{FF2B5EF4-FFF2-40B4-BE49-F238E27FC236}">
                <a16:creationId xmlns:a16="http://schemas.microsoft.com/office/drawing/2014/main" id="{A0FA803F-871E-1C2F-342B-6DBD50C81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67" y="1508670"/>
            <a:ext cx="304800" cy="304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5F99AE6-E60D-E04E-2C5E-6E2094FFC5B3}"/>
              </a:ext>
            </a:extLst>
          </p:cNvPr>
          <p:cNvSpPr txBox="1"/>
          <p:nvPr/>
        </p:nvSpPr>
        <p:spPr>
          <a:xfrm>
            <a:off x="228600" y="1927770"/>
            <a:ext cx="2751683" cy="400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Proposed Copilot No‑Code Workflow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2AD098-7FEE-84FF-1CC7-8F21731F8E7B}"/>
              </a:ext>
            </a:extLst>
          </p:cNvPr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4D74FB-ED34-48FA-B5B2-F328ADD716BD}"/>
              </a:ext>
            </a:extLst>
          </p:cNvPr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471B23-AABA-1D05-0985-36DFD9E2F208}"/>
              </a:ext>
            </a:extLst>
          </p:cNvPr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2163C9-35BE-A09C-8A28-47FCBDB70D70}"/>
              </a:ext>
            </a:extLst>
          </p:cNvPr>
          <p:cNvSpPr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9B3825-11F3-DD6B-A085-6A2C0DD9A522}"/>
              </a:ext>
            </a:extLst>
          </p:cNvPr>
          <p:cNvSpPr txBox="1"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23" name="Picture 22" descr="tmprnahgr87.png">
            <a:extLst>
              <a:ext uri="{FF2B5EF4-FFF2-40B4-BE49-F238E27FC236}">
                <a16:creationId xmlns:a16="http://schemas.microsoft.com/office/drawing/2014/main" id="{325C54BC-0527-CAED-5820-588696980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1508670"/>
            <a:ext cx="304800" cy="3048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2678606-1EFC-A130-A4A7-D1E2AA25AEDE}"/>
              </a:ext>
            </a:extLst>
          </p:cNvPr>
          <p:cNvSpPr txBox="1"/>
          <p:nvPr/>
        </p:nvSpPr>
        <p:spPr>
          <a:xfrm>
            <a:off x="3170783" y="1927770"/>
            <a:ext cx="2751683" cy="6001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Proposed Traditional Agentic Workflow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3A1EDE-C40A-049A-EC3C-5610B5330649}"/>
              </a:ext>
            </a:extLst>
          </p:cNvPr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884DDB-269B-B94D-2E55-F2F19A65514A}"/>
              </a:ext>
            </a:extLst>
          </p:cNvPr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827747-941A-5A93-0A2E-1EA8917F163F}"/>
              </a:ext>
            </a:extLst>
          </p:cNvPr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ADFE8F-D3A7-C6E2-04F2-F52A607BCFF7}"/>
              </a:ext>
            </a:extLst>
          </p:cNvPr>
          <p:cNvSpPr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CD634E-DF32-8E24-3576-D2BEEC1CED2D}"/>
              </a:ext>
            </a:extLst>
          </p:cNvPr>
          <p:cNvSpPr txBox="1"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30" name="Picture 29" descr="tmpx6u5fkn9.png">
            <a:extLst>
              <a:ext uri="{FF2B5EF4-FFF2-40B4-BE49-F238E27FC236}">
                <a16:creationId xmlns:a16="http://schemas.microsoft.com/office/drawing/2014/main" id="{0281FE2F-5262-4E30-FD84-2524B226E2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333" y="1508670"/>
            <a:ext cx="304800" cy="3048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74C46A3-A48A-E922-8B44-586ADAED8F3B}"/>
              </a:ext>
            </a:extLst>
          </p:cNvPr>
          <p:cNvSpPr txBox="1"/>
          <p:nvPr/>
        </p:nvSpPr>
        <p:spPr>
          <a:xfrm>
            <a:off x="6112966" y="1927770"/>
            <a:ext cx="2751683" cy="28674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300" b="1" i="0" dirty="0">
                <a:solidFill>
                  <a:srgbClr val="FFFFFF"/>
                </a:solidFill>
                <a:latin typeface="Verdana"/>
              </a:rPr>
              <a:t>Anticipated Strategic Trade‑offs</a:t>
            </a:r>
          </a:p>
          <a:p>
            <a:pPr algn="ctr">
              <a:spcAft>
                <a:spcPts val="1200"/>
              </a:spcAft>
            </a:pPr>
            <a:r>
              <a:rPr sz="1200" b="0" i="0" dirty="0">
                <a:solidFill>
                  <a:srgbClr val="FFFFFF"/>
                </a:solidFill>
                <a:latin typeface="Verdana"/>
              </a:rPr>
              <a:t>Posits that the No‑Code path could deliver accelerated prototyping, streamlined maintenance, and centralized governance</a:t>
            </a:r>
            <a:r>
              <a:rPr lang="en-US" sz="1200" b="0" i="0" dirty="0">
                <a:solidFill>
                  <a:srgbClr val="FFFFFF"/>
                </a:solidFill>
                <a:latin typeface="Verdana"/>
              </a:rPr>
              <a:t>.</a:t>
            </a:r>
          </a:p>
          <a:p>
            <a:pPr algn="ctr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  <a:latin typeface="Verdana"/>
              </a:rPr>
              <a:t>T</a:t>
            </a:r>
            <a:r>
              <a:rPr sz="1200" b="0" i="0" dirty="0">
                <a:solidFill>
                  <a:srgbClr val="FFFFFF"/>
                </a:solidFill>
                <a:latin typeface="Verdana"/>
              </a:rPr>
              <a:t>he Agentic path may provide maximal extensibility for niche edge‑cases. </a:t>
            </a:r>
            <a:endParaRPr lang="en-US" sz="1200" b="0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200" b="0" i="0" dirty="0">
                <a:solidFill>
                  <a:srgbClr val="FFFFFF"/>
                </a:solidFill>
                <a:latin typeface="Verdana"/>
              </a:rPr>
              <a:t>Decision criteria would hinge on project timelines, required custom logic, and projected long‑term operational budgets.</a:t>
            </a:r>
          </a:p>
        </p:txBody>
      </p:sp>
      <p:pic>
        <p:nvPicPr>
          <p:cNvPr id="32" name="Picture 31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A9BC378C-58EB-64DA-4CF3-A46F663259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131" b="15908"/>
          <a:stretch>
            <a:fillRect/>
          </a:stretch>
        </p:blipFill>
        <p:spPr>
          <a:xfrm>
            <a:off x="3170634" y="2319917"/>
            <a:ext cx="2751683" cy="2704582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34" name="Picture 33" descr="A diagram of a company&#10;&#10;AI-generated content may be incorrect.">
            <a:extLst>
              <a:ext uri="{FF2B5EF4-FFF2-40B4-BE49-F238E27FC236}">
                <a16:creationId xmlns:a16="http://schemas.microsoft.com/office/drawing/2014/main" id="{48BC92D3-6D0F-871E-9434-B5FBFAC17CC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79" t="2313" r="1900" b="2313"/>
          <a:stretch>
            <a:fillRect/>
          </a:stretch>
        </p:blipFill>
        <p:spPr>
          <a:xfrm>
            <a:off x="384047" y="1246921"/>
            <a:ext cx="3245632" cy="3733189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236519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500" fill="hold"/>
                                        <p:tgtEl>
                                          <p:spTgt spid="34"/>
                                        </p:tgtEl>
                                      </p:cBhvr>
                                      <p:by x="73000" y="73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08642E-6 L -0.05277 0.10432 " pathEditMode="relative" rAng="0" ptsTypes="AA">
                                      <p:cBhvr>
                                        <p:cTn id="8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39" y="521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  <p:bldP spid="17" grpId="0"/>
      <p:bldP spid="24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D65BE3-D4F9-E6CD-89D2-1CB21D53C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</p:spPr>
        <p:txBody>
          <a:bodyPr wrap="square" anchor="ctr">
            <a:normAutofit/>
          </a:bodyPr>
          <a:lstStyle/>
          <a:p>
            <a:r>
              <a:rPr lang="en-US" b="1" dirty="0"/>
              <a:t>Traditional Agentic Chatbot Workflow</a:t>
            </a:r>
            <a:endParaRPr lang="en-SE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C19303-93EB-A34E-3EB4-BD1B4493C4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47" t="143" b="15214"/>
          <a:stretch>
            <a:fillRect/>
          </a:stretch>
        </p:blipFill>
        <p:spPr>
          <a:xfrm>
            <a:off x="3169970" y="2368182"/>
            <a:ext cx="2660696" cy="2652229"/>
          </a:xfrm>
          <a:prstGeom prst="rect">
            <a:avLst/>
          </a:prstGeom>
          <a:noFill/>
          <a:ln>
            <a:noFill/>
          </a:ln>
          <a:effectLst>
            <a:softEdge rad="25400"/>
          </a:effectLst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D7C6AA3-3789-84A8-75F6-0A53E44A5D58}"/>
              </a:ext>
            </a:extLst>
          </p:cNvPr>
          <p:cNvSpPr txBox="1">
            <a:spLocks/>
          </p:cNvSpPr>
          <p:nvPr/>
        </p:nvSpPr>
        <p:spPr>
          <a:xfrm>
            <a:off x="311700" y="0"/>
            <a:ext cx="8520600" cy="71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erdana"/>
              <a:buNone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nl-BE"/>
              <a:t>Comparative Workflow Strategies</a:t>
            </a:r>
            <a:endParaRPr lang="nl-BE" dirty="0"/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1F0597F8-5319-1122-3986-0BF01D5F05C6}"/>
              </a:ext>
            </a:extLst>
          </p:cNvPr>
          <p:cNvSpPr txBox="1">
            <a:spLocks/>
          </p:cNvSpPr>
          <p:nvPr/>
        </p:nvSpPr>
        <p:spPr>
          <a:xfrm>
            <a:off x="311700" y="730401"/>
            <a:ext cx="8520600" cy="49904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Copilot No‑Code vs Traditional Agentic Approaches</a:t>
            </a:r>
            <a:endParaRPr lang="en-US" dirty="0"/>
          </a:p>
        </p:txBody>
      </p:sp>
      <p:pic>
        <p:nvPicPr>
          <p:cNvPr id="12" name="Picture 11" descr="tmpuoe_bmpb.png">
            <a:extLst>
              <a:ext uri="{FF2B5EF4-FFF2-40B4-BE49-F238E27FC236}">
                <a16:creationId xmlns:a16="http://schemas.microsoft.com/office/drawing/2014/main" id="{F5DA2506-49B0-0EA2-50B4-27207DF84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967" y="1508670"/>
            <a:ext cx="304800" cy="304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6CAD03-EB3D-090E-3B96-44051EEC4308}"/>
              </a:ext>
            </a:extLst>
          </p:cNvPr>
          <p:cNvSpPr txBox="1"/>
          <p:nvPr/>
        </p:nvSpPr>
        <p:spPr>
          <a:xfrm>
            <a:off x="228600" y="1927770"/>
            <a:ext cx="2751683" cy="400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Proposed Copilot No‑Code Workflow</a:t>
            </a:r>
          </a:p>
        </p:txBody>
      </p:sp>
      <p:pic>
        <p:nvPicPr>
          <p:cNvPr id="14" name="Picture 13" descr="tmprnahgr87.png">
            <a:extLst>
              <a:ext uri="{FF2B5EF4-FFF2-40B4-BE49-F238E27FC236}">
                <a16:creationId xmlns:a16="http://schemas.microsoft.com/office/drawing/2014/main" id="{FF5EF842-463D-117E-64CF-1072CFBAF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150" y="1508670"/>
            <a:ext cx="304800" cy="304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ACD4931-768A-2776-2A69-AD18BC9AFC0B}"/>
              </a:ext>
            </a:extLst>
          </p:cNvPr>
          <p:cNvSpPr txBox="1"/>
          <p:nvPr/>
        </p:nvSpPr>
        <p:spPr>
          <a:xfrm>
            <a:off x="3170783" y="1927770"/>
            <a:ext cx="2751683" cy="6001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Proposed Traditional Agentic Workflow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16" name="Picture 15" descr="tmpx6u5fkn9.png">
            <a:extLst>
              <a:ext uri="{FF2B5EF4-FFF2-40B4-BE49-F238E27FC236}">
                <a16:creationId xmlns:a16="http://schemas.microsoft.com/office/drawing/2014/main" id="{6E31E8A6-A97B-614A-B256-8ABAF521E8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6333" y="1508670"/>
            <a:ext cx="304800" cy="304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F889BE-9B5D-1C30-E9EF-6DD2E2365672}"/>
              </a:ext>
            </a:extLst>
          </p:cNvPr>
          <p:cNvSpPr txBox="1"/>
          <p:nvPr/>
        </p:nvSpPr>
        <p:spPr>
          <a:xfrm>
            <a:off x="6112966" y="1927770"/>
            <a:ext cx="2751683" cy="28674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300" b="1" i="0" dirty="0">
                <a:solidFill>
                  <a:srgbClr val="FFFFFF"/>
                </a:solidFill>
                <a:latin typeface="Verdana"/>
              </a:rPr>
              <a:t>Anticipated Strategic Trade‑offs</a:t>
            </a:r>
          </a:p>
          <a:p>
            <a:pPr algn="ctr">
              <a:spcAft>
                <a:spcPts val="1200"/>
              </a:spcAft>
            </a:pPr>
            <a:r>
              <a:rPr sz="1200" b="0" i="0" dirty="0">
                <a:solidFill>
                  <a:srgbClr val="FFFFFF"/>
                </a:solidFill>
                <a:latin typeface="Verdana"/>
              </a:rPr>
              <a:t>Posits that the No‑Code path could deliver accelerated prototyping, streamlined maintenance, and centralized governance</a:t>
            </a:r>
            <a:r>
              <a:rPr lang="en-US" sz="1200" b="0" i="0" dirty="0">
                <a:solidFill>
                  <a:srgbClr val="FFFFFF"/>
                </a:solidFill>
                <a:latin typeface="Verdana"/>
              </a:rPr>
              <a:t>.</a:t>
            </a:r>
          </a:p>
          <a:p>
            <a:pPr algn="ctr">
              <a:spcAft>
                <a:spcPts val="1200"/>
              </a:spcAft>
            </a:pPr>
            <a:r>
              <a:rPr lang="en-US" sz="1200" dirty="0">
                <a:solidFill>
                  <a:srgbClr val="FFFFFF"/>
                </a:solidFill>
                <a:latin typeface="Verdana"/>
              </a:rPr>
              <a:t>T</a:t>
            </a:r>
            <a:r>
              <a:rPr sz="1200" b="0" i="0" dirty="0">
                <a:solidFill>
                  <a:srgbClr val="FFFFFF"/>
                </a:solidFill>
                <a:latin typeface="Verdana"/>
              </a:rPr>
              <a:t>he Agentic path may provide maximal extensibility for niche edge‑cases. </a:t>
            </a:r>
            <a:endParaRPr lang="en-US" sz="1200" b="0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200" b="0" i="0" dirty="0">
                <a:solidFill>
                  <a:srgbClr val="FFFFFF"/>
                </a:solidFill>
                <a:latin typeface="Verdana"/>
              </a:rPr>
              <a:t>Decision criteria would hinge on project timelines, required custom logic, and projected long‑term operational budgets.</a:t>
            </a:r>
          </a:p>
        </p:txBody>
      </p:sp>
      <p:pic>
        <p:nvPicPr>
          <p:cNvPr id="18" name="Picture 17" descr="A diagram of a company&#10;&#10;AI-generated content may be incorrect.">
            <a:extLst>
              <a:ext uri="{FF2B5EF4-FFF2-40B4-BE49-F238E27FC236}">
                <a16:creationId xmlns:a16="http://schemas.microsoft.com/office/drawing/2014/main" id="{31426781-EB6B-D3AC-70C0-2FD75FF36A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79" t="2313" r="1900" b="2313"/>
          <a:stretch>
            <a:fillRect/>
          </a:stretch>
        </p:blipFill>
        <p:spPr>
          <a:xfrm>
            <a:off x="384048" y="2327879"/>
            <a:ext cx="2438400" cy="2652229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20E059-D63B-7A5A-B04A-87469745CAB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87900" y="1334625"/>
            <a:ext cx="3993600" cy="326440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LLM Agent 1 is used to identify what function to run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LLM Agent 2 interprets the obtained result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Everything else is hard coded with deterministic logic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Every data obtained is traceable and can be backed with proof</a:t>
            </a:r>
          </a:p>
        </p:txBody>
      </p:sp>
    </p:spTree>
    <p:extLst>
      <p:ext uri="{BB962C8B-B14F-4D97-AF65-F5344CB8AC3E}">
        <p14:creationId xmlns:p14="http://schemas.microsoft.com/office/powerpoint/2010/main" val="458566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2.5E-6 1.23457E-7 L 0.28229 -0.11667 " pathEditMode="relative" rAng="0" ptsTypes="AA">
                                      <p:cBhvr>
                                        <p:cTn id="4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15" y="-5833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50" dur="1500" fill="hold"/>
                                        <p:tgtEl>
                                          <p:spTgt spid="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52" dur="1500" fill="hold"/>
                                        <p:tgtEl>
                                          <p:spTgt spid="9"/>
                                        </p:tgtEl>
                                      </p:cBhvr>
                                      <p:by x="10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3" grpId="0"/>
      <p:bldP spid="15" grpId="0"/>
      <p:bldP spid="17" grpId="0"/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High-Level Architecture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>
            <a:normAutofit/>
          </a:bodyPr>
          <a:lstStyle/>
          <a:p>
            <a:r>
              <a:t>Multi-Agent Copilot-Based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 i="0">
                <a:solidFill>
                  <a:srgbClr val="FFFFFF"/>
                </a:solidFill>
                <a:latin typeface="Proxima Nova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16" name="Picture 15" descr="tmp1dimt_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67" y="150867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" y="1927770"/>
            <a:ext cx="2751683" cy="1046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Top-Level Agent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Primary WICE agent orchestrates queries across specialized agents.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23" name="Picture 22" descr="tmpno_qop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1508670"/>
            <a:ext cx="3048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70783" y="1927770"/>
            <a:ext cx="2751683" cy="1046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Source Agents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Dedicated agents for Wiki, SharePoint documentation, and databases.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30" name="Picture 29" descr="tmpo98y918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333" y="150867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12966" y="1927770"/>
            <a:ext cx="2751683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Teams Integration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End users interact directly through Microsoft Teams.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Data Sources &amp; Governance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>
            <a:normAutofit/>
          </a:bodyPr>
          <a:lstStyle/>
          <a:p>
            <a:r>
              <a:rPr dirty="0"/>
              <a:t>Trusted Internal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 i="0">
                <a:solidFill>
                  <a:srgbClr val="FFFFFF"/>
                </a:solidFill>
                <a:latin typeface="Proxima Nova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16" name="Picture 15" descr="tmpaan7v4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67" y="150867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" y="1927770"/>
            <a:ext cx="2751683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Primary Sources</a:t>
            </a:r>
            <a:endParaRPr lang="en-US" sz="1400" b="0" i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23" name="Picture 22" descr="tmp_8t3d1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1508670"/>
            <a:ext cx="3048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70783" y="1927770"/>
            <a:ext cx="2751683" cy="12003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Data Freshness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Metadata and collected-data info is near real-time; </a:t>
            </a:r>
            <a:endParaRPr lang="en-US" sz="1400" b="0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lang="en-US" sz="1400" b="0" i="0" dirty="0">
                <a:solidFill>
                  <a:srgbClr val="FFFFFF"/>
                </a:solidFill>
                <a:latin typeface="Verdana"/>
              </a:rPr>
              <a:t>H</a:t>
            </a:r>
            <a:r>
              <a:rPr sz="1400" b="0" i="0" dirty="0">
                <a:solidFill>
                  <a:srgbClr val="FFFFFF"/>
                </a:solidFill>
                <a:latin typeface="Verdana"/>
              </a:rPr>
              <a:t>istorical access via request.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30" name="Picture 29" descr="tmpgdmbj3r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333" y="150867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12966" y="1927770"/>
            <a:ext cx="2751683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Governance Aware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Designed to respect access control and data ownership.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DF6747-17D5-8069-7A28-BF3D0B7CD46F}"/>
              </a:ext>
            </a:extLst>
          </p:cNvPr>
          <p:cNvSpPr txBox="1"/>
          <p:nvPr/>
        </p:nvSpPr>
        <p:spPr>
          <a:xfrm>
            <a:off x="228603" y="2330052"/>
            <a:ext cx="2751683" cy="9541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FFFFF"/>
                </a:solidFill>
                <a:latin typeface="Verdana"/>
              </a:rPr>
              <a:t>SharePoint documents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FFFFF"/>
                </a:solidFill>
                <a:latin typeface="Verdana"/>
              </a:rPr>
              <a:t>WICE databases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FFFFF"/>
                </a:solidFill>
                <a:latin typeface="Verdana"/>
              </a:rPr>
              <a:t>public Wiki, and URL maps.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Status &amp; Next Steps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>
            <a:normAutofit/>
          </a:bodyPr>
          <a:lstStyle/>
          <a:p>
            <a:r>
              <a:rPr dirty="0"/>
              <a:t>From Ideation to Working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 i="0">
                <a:solidFill>
                  <a:srgbClr val="FFFFFF"/>
                </a:solidFill>
                <a:latin typeface="Proxima Nova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508670"/>
            <a:ext cx="8636198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600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51967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16" name="Picture 15" descr="tmprnahgr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67" y="150867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" y="1927770"/>
            <a:ext cx="2751683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Current Phase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Ideation and development loop with architecture defined.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70783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4150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23" name="Picture 22" descr="tmp75q5cx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1508670"/>
            <a:ext cx="3048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70783" y="1927770"/>
            <a:ext cx="2751683" cy="1354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Immediate Needs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Azure API resources</a:t>
            </a:r>
            <a:endParaRPr lang="en-US" sz="1400" b="0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SharePoint access</a:t>
            </a:r>
            <a:endParaRPr lang="en-US" sz="1400" b="0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lang="en-US" sz="1400" b="0" i="0" dirty="0">
                <a:solidFill>
                  <a:srgbClr val="FFFFFF"/>
                </a:solidFill>
                <a:latin typeface="Verdana"/>
              </a:rPr>
              <a:t>D</a:t>
            </a:r>
            <a:r>
              <a:rPr sz="1400" b="0" i="0" dirty="0">
                <a:solidFill>
                  <a:srgbClr val="FFFFFF"/>
                </a:solidFill>
                <a:latin typeface="Verdana"/>
              </a:rPr>
              <a:t>atabase permissions.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12966" y="1508670"/>
            <a:ext cx="2751683" cy="31922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36333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30" name="Picture 29" descr="tmprvy7ww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333" y="150867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12966" y="1927770"/>
            <a:ext cx="2751683" cy="1046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Verdana"/>
              </a:rPr>
              <a:t>Future Direction</a:t>
            </a:r>
            <a:endParaRPr lang="en-US" sz="1300" b="1" i="0" dirty="0">
              <a:solidFill>
                <a:srgbClr val="FFFFFF"/>
              </a:solidFill>
              <a:latin typeface="Verdana"/>
            </a:endParaRPr>
          </a:p>
          <a:p>
            <a:pPr algn="ctr"/>
            <a:endParaRPr sz="1300" b="1" i="0" dirty="0">
              <a:solidFill>
                <a:srgbClr val="FFFFFF"/>
              </a:solidFill>
              <a:latin typeface="Verdana"/>
            </a:endParaRPr>
          </a:p>
          <a:p>
            <a:pPr algn="ctr">
              <a:spcAft>
                <a:spcPts val="1200"/>
              </a:spcAft>
            </a:pPr>
            <a:r>
              <a:rPr sz="1400" b="0" i="0" dirty="0">
                <a:solidFill>
                  <a:srgbClr val="FFFFFF"/>
                </a:solidFill>
                <a:latin typeface="Verdana"/>
              </a:rPr>
              <a:t>Evaluate alternative agentic workflow and extend toward production.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9AE195-A542-7D2E-B77F-3B1B461C2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Thank you</a:t>
            </a:r>
            <a:endParaRPr lang="en-SE" sz="3600" dirty="0"/>
          </a:p>
        </p:txBody>
      </p:sp>
    </p:spTree>
    <p:extLst>
      <p:ext uri="{BB962C8B-B14F-4D97-AF65-F5344CB8AC3E}">
        <p14:creationId xmlns:p14="http://schemas.microsoft.com/office/powerpoint/2010/main" val="2084016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FDCB3B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fea2623-af8f-4fb8-b1cf-b63cc8e496aa}" enabled="1" method="Standard" siteId="{81fa766e-a349-4867-8bf4-ab35e250a08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1126</Words>
  <Application>Microsoft Office PowerPoint</Application>
  <PresentationFormat>On-screen Show (16:9)</PresentationFormat>
  <Paragraphs>146</Paragraphs>
  <Slides>11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  <vt:variant>
        <vt:lpstr>Custom Shows</vt:lpstr>
      </vt:variant>
      <vt:variant>
        <vt:i4>1</vt:i4>
      </vt:variant>
    </vt:vector>
  </HeadingPairs>
  <TitlesOfParts>
    <vt:vector size="17" baseType="lpstr">
      <vt:lpstr>Roboto Slab</vt:lpstr>
      <vt:lpstr>Roboto</vt:lpstr>
      <vt:lpstr>Arial</vt:lpstr>
      <vt:lpstr>Verdana</vt:lpstr>
      <vt:lpstr>Marina</vt:lpstr>
      <vt:lpstr>Masters Thesis: Stakeholder Chatbot for WICE Data</vt:lpstr>
      <vt:lpstr>Why This Matters</vt:lpstr>
      <vt:lpstr>Scope &amp; Intent</vt:lpstr>
      <vt:lpstr>Comparative Workflow Strategies</vt:lpstr>
      <vt:lpstr>Copilot No-Code Chatbot Workflow</vt:lpstr>
      <vt:lpstr>Comparative Workflow Strategies</vt:lpstr>
      <vt:lpstr>Traditional Agentic Chatbot Workflow</vt:lpstr>
      <vt:lpstr>High-Level Architecture</vt:lpstr>
      <vt:lpstr>Data Sources &amp; Governance</vt:lpstr>
      <vt:lpstr>Status &amp; Next Steps</vt:lpstr>
      <vt:lpstr>Thank you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%title%</dc:title>
  <cp:lastModifiedBy>KOZHUPPAKALAM THOMAS, PUNNOOSE</cp:lastModifiedBy>
  <cp:revision>7</cp:revision>
  <dcterms:modified xsi:type="dcterms:W3CDTF">2026-02-10T12:40:19Z</dcterms:modified>
</cp:coreProperties>
</file>